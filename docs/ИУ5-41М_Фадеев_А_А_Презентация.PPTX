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81" r:id="rId7"/>
    <p:sldId id="282" r:id="rId8"/>
    <p:sldId id="283" r:id="rId9"/>
    <p:sldId id="261" r:id="rId10"/>
    <p:sldId id="262" r:id="rId11"/>
    <p:sldId id="286" r:id="rId12"/>
    <p:sldId id="302" r:id="rId13"/>
    <p:sldId id="301" r:id="rId14"/>
    <p:sldId id="284" r:id="rId15"/>
    <p:sldId id="287" r:id="rId16"/>
    <p:sldId id="297" r:id="rId17"/>
    <p:sldId id="298" r:id="rId18"/>
    <p:sldId id="299" r:id="rId19"/>
    <p:sldId id="300" r:id="rId20"/>
    <p:sldId id="285" r:id="rId21"/>
    <p:sldId id="291" r:id="rId22"/>
    <p:sldId id="293" r:id="rId23"/>
    <p:sldId id="288" r:id="rId24"/>
    <p:sldId id="294" r:id="rId25"/>
    <p:sldId id="292" r:id="rId26"/>
    <p:sldId id="295" r:id="rId27"/>
    <p:sldId id="296" r:id="rId28"/>
    <p:sldId id="278" r:id="rId29"/>
    <p:sldId id="279" r:id="rId3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6"/>
  </p:normalViewPr>
  <p:slideViewPr>
    <p:cSldViewPr snapToGrid="0" snapToObjects="1">
      <p:cViewPr varScale="1">
        <p:scale>
          <a:sx n="31" d="100"/>
          <a:sy n="31" d="100"/>
        </p:scale>
        <p:origin x="8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Автор и дата</a:t>
            </a:r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eg"/>
          <p:cNvSpPr>
            <a:spLocks noGrp="1"/>
          </p:cNvSpPr>
          <p:nvPr>
            <p:ph type="pic" idx="13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Автор и дата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>
            <a:spLocks noGrp="1"/>
          </p:cNvSpPr>
          <p:nvPr>
            <p:ph type="pic" idx="13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  <a:lvl2pPr>
              <a:defRPr>
                <a:latin typeface="+mn-lt"/>
                <a:ea typeface="+mn-ea"/>
                <a:cs typeface="+mn-cs"/>
                <a:sym typeface="Helvetica Neue"/>
              </a:defRPr>
            </a:lvl2pPr>
            <a:lvl3pPr>
              <a:defRPr>
                <a:latin typeface="+mn-lt"/>
                <a:ea typeface="+mn-ea"/>
                <a:cs typeface="+mn-cs"/>
                <a:sym typeface="Helvetica Neue"/>
              </a:defRPr>
            </a:lvl3pPr>
            <a:lvl4pPr>
              <a:defRPr>
                <a:latin typeface="+mn-lt"/>
                <a:ea typeface="+mn-ea"/>
                <a:cs typeface="+mn-cs"/>
                <a:sym typeface="Helvetica Neue"/>
              </a:defRPr>
            </a:lvl4pPr>
            <a:lvl5pPr>
              <a:defRPr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  <a:lvl2pPr>
              <a:defRPr>
                <a:latin typeface="+mn-lt"/>
                <a:ea typeface="+mn-ea"/>
                <a:cs typeface="+mn-cs"/>
                <a:sym typeface="Helvetica Neue"/>
              </a:defRPr>
            </a:lvl2pPr>
            <a:lvl3pPr>
              <a:defRPr>
                <a:latin typeface="+mn-lt"/>
                <a:ea typeface="+mn-ea"/>
                <a:cs typeface="+mn-cs"/>
                <a:sym typeface="Helvetica Neue"/>
              </a:defRPr>
            </a:lvl3pPr>
            <a:lvl4pPr>
              <a:defRPr>
                <a:latin typeface="+mn-lt"/>
                <a:ea typeface="+mn-ea"/>
                <a:cs typeface="+mn-cs"/>
                <a:sym typeface="Helvetica Neue"/>
              </a:defRPr>
            </a:lvl4pPr>
            <a:lvl5pPr>
              <a:defRPr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eg"/>
          <p:cNvSpPr>
            <a:spLocks noGrp="1"/>
          </p:cNvSpPr>
          <p:nvPr>
            <p:ph type="pic" idx="14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слайда</a:t>
            </a:r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1pPr>
            <a:lvl2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2pPr>
            <a:lvl3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3pPr>
            <a:lvl4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4pPr>
            <a:lvl5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Темы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Авторство</a:t>
            </a:r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«Важная цитата»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Изображение"/>
          <p:cNvSpPr>
            <a:spLocks noGrp="1"/>
          </p:cNvSpPr>
          <p:nvPr>
            <p:ph type="pic" sz="quarter" idx="13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Изображение"/>
          <p:cNvSpPr>
            <a:spLocks noGrp="1"/>
          </p:cNvSpPr>
          <p:nvPr>
            <p:ph type="pic" sz="half" idx="14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Изображение"/>
          <p:cNvSpPr>
            <a:spLocks noGrp="1"/>
          </p:cNvSpPr>
          <p:nvPr>
            <p:ph type="pic" idx="15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Изображение"/>
          <p:cNvSpPr>
            <a:spLocks noGrp="1"/>
          </p:cNvSpPr>
          <p:nvPr>
            <p:ph type="pic" idx="13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Заголовок слайда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609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1219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1828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2438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30480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3657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4267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4876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5486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10.06.2022"/>
          <p:cNvSpPr txBox="1">
            <a:spLocks noGrp="1"/>
          </p:cNvSpPr>
          <p:nvPr>
            <p:ph type="body" idx="13"/>
          </p:nvPr>
        </p:nvSpPr>
        <p:spPr>
          <a:xfrm>
            <a:off x="20632120" y="11859862"/>
            <a:ext cx="2540222" cy="63697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>
            <a:lvl1pPr algn="r"/>
          </a:lstStyle>
          <a:p>
            <a:r>
              <a:rPr lang="ru-RU" dirty="0" smtClean="0"/>
              <a:t>23</a:t>
            </a:r>
            <a:r>
              <a:rPr dirty="0" smtClean="0"/>
              <a:t>.06.2022</a:t>
            </a:r>
            <a:endParaRPr dirty="0"/>
          </a:p>
        </p:txBody>
      </p:sp>
      <p:sp>
        <p:nvSpPr>
          <p:cNvPr id="152" name="Система автоматизации разработки и обеспечения доступности проектов"/>
          <p:cNvSpPr txBox="1">
            <a:spLocks noGrp="1"/>
          </p:cNvSpPr>
          <p:nvPr>
            <p:ph type="ctrTitle"/>
          </p:nvPr>
        </p:nvSpPr>
        <p:spPr>
          <a:xfrm>
            <a:off x="1206498" y="1328391"/>
            <a:ext cx="21971004" cy="327921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9400" spc="-188"/>
            </a:lvl1pPr>
          </a:lstStyle>
          <a:p>
            <a:r>
              <a:rPr lang="ru-RU" dirty="0" smtClean="0"/>
              <a:t>Исследование векторного представления </a:t>
            </a:r>
            <a:r>
              <a:rPr lang="ru-RU" dirty="0" err="1" smtClean="0"/>
              <a:t>метаграфов</a:t>
            </a:r>
            <a:endParaRPr dirty="0"/>
          </a:p>
        </p:txBody>
      </p:sp>
      <p:sp>
        <p:nvSpPr>
          <p:cNvPr id="154" name="Кучеренко М.А.…"/>
          <p:cNvSpPr txBox="1"/>
          <p:nvPr/>
        </p:nvSpPr>
        <p:spPr>
          <a:xfrm>
            <a:off x="7471462" y="5883309"/>
            <a:ext cx="15700879" cy="513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4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 smtClean="0"/>
              <a:t>Фадеев А</a:t>
            </a:r>
            <a:r>
              <a:rPr sz="4000" dirty="0" smtClean="0"/>
              <a:t>.А</a:t>
            </a:r>
            <a:r>
              <a:rPr sz="4000" dirty="0"/>
              <a:t>.</a:t>
            </a:r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/>
              <a:t>ИУ5-41М</a:t>
            </a:r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Системы</a:t>
            </a:r>
            <a:r>
              <a:rPr sz="4000" dirty="0"/>
              <a:t> </a:t>
            </a:r>
            <a:r>
              <a:rPr sz="4000" dirty="0" err="1"/>
              <a:t>обработки</a:t>
            </a:r>
            <a:r>
              <a:rPr sz="4000" dirty="0"/>
              <a:t> </a:t>
            </a:r>
            <a:r>
              <a:rPr sz="4000" dirty="0" err="1"/>
              <a:t>информации</a:t>
            </a:r>
            <a:r>
              <a:rPr sz="4000" dirty="0"/>
              <a:t> </a:t>
            </a:r>
            <a:r>
              <a:rPr sz="4000" dirty="0" err="1"/>
              <a:t>и</a:t>
            </a:r>
            <a:r>
              <a:rPr sz="4000" dirty="0"/>
              <a:t> </a:t>
            </a:r>
            <a:r>
              <a:rPr sz="4000" dirty="0" err="1"/>
              <a:t>управления</a:t>
            </a: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Информатика</a:t>
            </a:r>
            <a:r>
              <a:rPr sz="4000" dirty="0"/>
              <a:t>, </a:t>
            </a:r>
            <a:r>
              <a:rPr sz="4000" dirty="0" err="1"/>
              <a:t>искусственный</a:t>
            </a:r>
            <a:r>
              <a:rPr sz="4000" dirty="0"/>
              <a:t> </a:t>
            </a:r>
            <a:r>
              <a:rPr sz="4000" dirty="0" err="1"/>
              <a:t>интеллект</a:t>
            </a:r>
            <a:r>
              <a:rPr sz="4000" dirty="0"/>
              <a:t> </a:t>
            </a:r>
            <a:r>
              <a:rPr sz="4000" dirty="0" err="1"/>
              <a:t>и</a:t>
            </a:r>
            <a:r>
              <a:rPr sz="4000" dirty="0"/>
              <a:t> </a:t>
            </a:r>
            <a:r>
              <a:rPr sz="4000" dirty="0" err="1"/>
              <a:t>системы</a:t>
            </a:r>
            <a:r>
              <a:rPr sz="4000" dirty="0"/>
              <a:t> </a:t>
            </a:r>
            <a:r>
              <a:rPr sz="4000" dirty="0" err="1"/>
              <a:t>управления</a:t>
            </a:r>
            <a:r>
              <a:rPr sz="4000" dirty="0"/>
              <a:t/>
            </a:r>
            <a:br>
              <a:rPr sz="4000" dirty="0"/>
            </a:b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4000" dirty="0"/>
          </a:p>
          <a:p>
            <a:pPr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 err="1" smtClean="0"/>
              <a:t>Гапанюк</a:t>
            </a:r>
            <a:r>
              <a:rPr sz="4000" dirty="0" smtClean="0"/>
              <a:t> </a:t>
            </a:r>
            <a:r>
              <a:rPr lang="ru-RU" sz="4000" dirty="0" smtClean="0"/>
              <a:t>Ю</a:t>
            </a:r>
            <a:r>
              <a:rPr sz="4000" dirty="0" smtClean="0"/>
              <a:t>.</a:t>
            </a:r>
            <a:r>
              <a:rPr lang="ru-RU" sz="4000" dirty="0" smtClean="0"/>
              <a:t>Е</a:t>
            </a:r>
            <a:r>
              <a:rPr sz="4000" dirty="0" smtClean="0"/>
              <a:t>., </a:t>
            </a:r>
            <a:r>
              <a:rPr sz="4000" dirty="0" err="1"/>
              <a:t>к.т.н</a:t>
            </a:r>
            <a:r>
              <a:rPr sz="4000" dirty="0"/>
              <a:t>., </a:t>
            </a:r>
            <a:r>
              <a:rPr sz="4000" dirty="0" err="1"/>
              <a:t>доцент</a:t>
            </a:r>
            <a:endParaRPr sz="4000" dirty="0"/>
          </a:p>
        </p:txBody>
      </p:sp>
      <p:sp>
        <p:nvSpPr>
          <p:cNvPr id="155" name="Москва, МГТУ им Н.Э. Баумана"/>
          <p:cNvSpPr txBox="1"/>
          <p:nvPr/>
        </p:nvSpPr>
        <p:spPr>
          <a:xfrm>
            <a:off x="8176722" y="11839048"/>
            <a:ext cx="803055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Москва, МГТУ им Н.Э. Баумана</a:t>
            </a:r>
          </a:p>
        </p:txBody>
      </p:sp>
      <p:sp>
        <p:nvSpPr>
          <p:cNvPr id="156" name="Выполнил:…"/>
          <p:cNvSpPr txBox="1"/>
          <p:nvPr/>
        </p:nvSpPr>
        <p:spPr>
          <a:xfrm>
            <a:off x="1206498" y="5883309"/>
            <a:ext cx="6073369" cy="513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lvl="4"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smtClean="0"/>
              <a:t>Исполнитель</a:t>
            </a:r>
            <a:r>
              <a:rPr sz="4000" smtClean="0"/>
              <a:t>:</a:t>
            </a:r>
            <a:endParaRPr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Группа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Кафедра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 err="1"/>
              <a:t>Факультет</a:t>
            </a:r>
            <a:r>
              <a:rPr sz="4000" dirty="0"/>
              <a:t>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ru-RU" sz="4000" dirty="0"/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sz="4000" dirty="0"/>
              <a:t>Научный руководитель:</a:t>
            </a:r>
          </a:p>
          <a:p>
            <a:pPr algn="r" defTabSz="577850">
              <a:lnSpc>
                <a:spcPct val="100000"/>
              </a:lnSpc>
              <a:spcBef>
                <a:spcPts val="0"/>
              </a:spcBef>
              <a:defRPr sz="3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Цель и актуальность проект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Цель</a:t>
            </a:r>
            <a:r>
              <a:rPr dirty="0"/>
              <a:t> и </a:t>
            </a:r>
            <a:r>
              <a:rPr dirty="0" err="1"/>
              <a:t>актуальность</a:t>
            </a:r>
            <a:r>
              <a:rPr dirty="0"/>
              <a:t> </a:t>
            </a:r>
            <a:r>
              <a:rPr lang="ru-RU" dirty="0" smtClean="0"/>
              <a:t>работы</a:t>
            </a:r>
            <a:endParaRPr dirty="0"/>
          </a:p>
        </p:txBody>
      </p:sp>
      <p:sp>
        <p:nvSpPr>
          <p:cNvPr id="159" name="Цель работы – спроектировать и внедрить систему автоматизированной инфраструктуры в парадигме цифровой экосистемы для автоматизации основных процессов разработки и обеспечения доступности проектов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b="1" dirty="0" err="1"/>
              <a:t>Цель</a:t>
            </a:r>
            <a:r>
              <a:rPr b="1" dirty="0"/>
              <a:t> </a:t>
            </a:r>
            <a:r>
              <a:rPr b="1" dirty="0" err="1"/>
              <a:t>работы</a:t>
            </a:r>
            <a:r>
              <a:rPr b="1" dirty="0"/>
              <a:t> </a:t>
            </a:r>
            <a:r>
              <a:rPr dirty="0" smtClean="0"/>
              <a:t>– и</a:t>
            </a:r>
            <a:r>
              <a:rPr lang="ru-RU" dirty="0" err="1" smtClean="0"/>
              <a:t>сследовать</a:t>
            </a:r>
            <a:r>
              <a:rPr lang="ru-RU" dirty="0" smtClean="0"/>
              <a:t> </a:t>
            </a:r>
            <a:r>
              <a:rPr lang="ru-RU" dirty="0"/>
              <a:t>возможности и определить подходы для решения задачи </a:t>
            </a:r>
            <a:r>
              <a:rPr lang="ru-RU" dirty="0" err="1"/>
              <a:t>эмбеддинга</a:t>
            </a:r>
            <a:r>
              <a:rPr lang="ru-RU" dirty="0"/>
              <a:t> метаграфа, используя существующие алгоритмы </a:t>
            </a:r>
            <a:r>
              <a:rPr lang="ru-RU" dirty="0" err="1"/>
              <a:t>эмбеддинга</a:t>
            </a:r>
            <a:r>
              <a:rPr lang="ru-RU" dirty="0"/>
              <a:t> плоских </a:t>
            </a:r>
            <a:r>
              <a:rPr lang="ru-RU" dirty="0" smtClean="0"/>
              <a:t>графов</a:t>
            </a:r>
            <a:endParaRPr dirty="0"/>
          </a:p>
          <a:p>
            <a:pPr marL="0" indent="0">
              <a:buSzTx/>
              <a:buNone/>
            </a:pPr>
            <a:r>
              <a:rPr b="1" dirty="0" err="1"/>
              <a:t>Актуальность</a:t>
            </a:r>
            <a:r>
              <a:rPr b="1" dirty="0"/>
              <a:t> </a:t>
            </a:r>
            <a:r>
              <a:rPr b="1" dirty="0" err="1"/>
              <a:t>работы</a:t>
            </a:r>
            <a:r>
              <a:rPr dirty="0"/>
              <a:t> </a:t>
            </a:r>
            <a:r>
              <a:rPr lang="ru-RU" dirty="0" smtClean="0"/>
              <a:t>подтверждается</a:t>
            </a:r>
            <a:r>
              <a:rPr dirty="0" smtClean="0"/>
              <a:t> </a:t>
            </a:r>
            <a:r>
              <a:rPr lang="ru-RU" dirty="0" smtClean="0"/>
              <a:t>двумя</a:t>
            </a:r>
            <a:r>
              <a:rPr dirty="0" smtClean="0"/>
              <a:t> </a:t>
            </a:r>
            <a:r>
              <a:rPr lang="ru-RU" dirty="0" smtClean="0"/>
              <a:t>моментами</a:t>
            </a:r>
            <a:r>
              <a:rPr dirty="0" smtClean="0"/>
              <a:t>:</a:t>
            </a:r>
            <a:endParaRPr lang="ru-RU" dirty="0" smtClean="0"/>
          </a:p>
          <a:p>
            <a:pPr marL="914400" indent="-914400">
              <a:buSzTx/>
              <a:buFont typeface="+mj-lt"/>
              <a:buAutoNum type="arabicPeriod"/>
            </a:pPr>
            <a:r>
              <a:rPr lang="ru-RU" dirty="0" smtClean="0"/>
              <a:t>отсутствие процедур </a:t>
            </a:r>
            <a:r>
              <a:rPr lang="ru-RU" dirty="0" err="1" smtClean="0"/>
              <a:t>эмбеддинга</a:t>
            </a:r>
            <a:r>
              <a:rPr lang="ru-RU" dirty="0" smtClean="0"/>
              <a:t> </a:t>
            </a:r>
            <a:r>
              <a:rPr lang="ru-RU" dirty="0" err="1" smtClean="0"/>
              <a:t>метаграфов</a:t>
            </a:r>
            <a:endParaRPr lang="ru-RU" dirty="0" smtClean="0"/>
          </a:p>
          <a:p>
            <a:pPr marL="914400" indent="-914400">
              <a:buSzTx/>
              <a:buFont typeface="+mj-lt"/>
              <a:buAutoNum type="arabicPeriod"/>
            </a:pPr>
            <a:r>
              <a:rPr lang="ru-RU" dirty="0"/>
              <a:t>н</a:t>
            </a:r>
            <a:r>
              <a:rPr lang="ru-RU" dirty="0" smtClean="0"/>
              <a:t>евозможность использования </a:t>
            </a:r>
            <a:r>
              <a:rPr lang="ru-RU" dirty="0" err="1" smtClean="0"/>
              <a:t>метаграфов</a:t>
            </a:r>
            <a:r>
              <a:rPr lang="ru-RU" dirty="0" smtClean="0"/>
              <a:t> как входных данных для различных моделей машинного обучения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Перечень задач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Задачи</a:t>
            </a:r>
            <a:endParaRPr dirty="0"/>
          </a:p>
        </p:txBody>
      </p:sp>
      <p:sp>
        <p:nvSpPr>
          <p:cNvPr id="162" name="Провести анализ предметной области…"/>
          <p:cNvSpPr txBox="1">
            <a:spLocks noGrp="1"/>
          </p:cNvSpPr>
          <p:nvPr>
            <p:ph type="body" idx="1"/>
          </p:nvPr>
        </p:nvSpPr>
        <p:spPr>
          <a:xfrm>
            <a:off x="1206500" y="3740727"/>
            <a:ext cx="21971000" cy="862445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Исследование предметной области</a:t>
            </a:r>
          </a:p>
          <a:p>
            <a:pPr lvl="1"/>
            <a:r>
              <a:rPr lang="ru-RU" dirty="0" err="1" smtClean="0"/>
              <a:t>метаграфовая</a:t>
            </a:r>
            <a:r>
              <a:rPr lang="ru-RU" dirty="0" smtClean="0"/>
              <a:t> модель данных</a:t>
            </a:r>
          </a:p>
          <a:p>
            <a:pPr lvl="1"/>
            <a:r>
              <a:rPr lang="ru-RU" dirty="0" err="1" smtClean="0"/>
              <a:t>многодольные</a:t>
            </a:r>
            <a:r>
              <a:rPr lang="ru-RU" dirty="0" smtClean="0"/>
              <a:t> графы</a:t>
            </a:r>
          </a:p>
          <a:p>
            <a:pPr lvl="1"/>
            <a:r>
              <a:rPr lang="ru-RU" dirty="0" smtClean="0"/>
              <a:t>алгоритмы </a:t>
            </a:r>
            <a:r>
              <a:rPr lang="ru-RU" dirty="0" err="1" smtClean="0"/>
              <a:t>эмбеддинга</a:t>
            </a:r>
            <a:r>
              <a:rPr lang="ru-RU" dirty="0" smtClean="0"/>
              <a:t> плоских графов</a:t>
            </a:r>
            <a:endParaRPr dirty="0" smtClean="0"/>
          </a:p>
          <a:p>
            <a:r>
              <a:rPr lang="ru-RU" dirty="0" smtClean="0"/>
              <a:t>Разработка алгоритма преобразования метаграфа к плоскому графу</a:t>
            </a:r>
          </a:p>
          <a:p>
            <a:r>
              <a:rPr lang="ru-RU" dirty="0" smtClean="0"/>
              <a:t>Разработка и тестирование алгоритма </a:t>
            </a:r>
            <a:r>
              <a:rPr lang="ru-RU" dirty="0" err="1" smtClean="0"/>
              <a:t>эмбеддинга</a:t>
            </a:r>
            <a:r>
              <a:rPr lang="ru-RU" dirty="0" smtClean="0"/>
              <a:t> метаграфа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Предметная область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 err="1" smtClean="0"/>
              <a:t>Метаграф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9015" t="30404" r="20303" b="14849"/>
          <a:stretch/>
        </p:blipFill>
        <p:spPr>
          <a:xfrm>
            <a:off x="1206500" y="3592163"/>
            <a:ext cx="12202383" cy="7414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918667"/>
                  </p:ext>
                </p:extLst>
              </p:nvPr>
            </p:nvGraphicFramePr>
            <p:xfrm>
              <a:off x="12766167" y="1079500"/>
              <a:ext cx="10862760" cy="117221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474997">
                      <a:extLst>
                        <a:ext uri="{9D8B030D-6E8A-4147-A177-3AD203B41FA5}">
                          <a16:colId xmlns:a16="http://schemas.microsoft.com/office/drawing/2014/main" val="3909191159"/>
                        </a:ext>
                      </a:extLst>
                    </a:gridCol>
                    <a:gridCol w="1387763">
                      <a:extLst>
                        <a:ext uri="{9D8B030D-6E8A-4147-A177-3AD203B41FA5}">
                          <a16:colId xmlns:a16="http://schemas.microsoft.com/office/drawing/2014/main" val="4115958098"/>
                        </a:ext>
                      </a:extLst>
                    </a:gridCol>
                  </a:tblGrid>
                  <a:tr h="1713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𝑀𝐺</m:t>
                                </m:r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𝑀𝑉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34336252"/>
                      </a:ext>
                    </a:extLst>
                  </a:tr>
                  <a:tr h="17137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𝑎𝑡𝑟</m:t>
                                        </m:r>
                                      </m:e>
                                      <m:sub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sz="60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2400617"/>
                      </a:ext>
                    </a:extLst>
                  </a:tr>
                  <a:tr h="26350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𝑒𝑜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𝑎𝑡𝑟</m:t>
                                            </m:r>
                                          </m:e>
                                          <m:sub>
                                            <m: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𝑒𝑜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𝑡𝑟𝑢𝑒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𝑓𝑎𝑙𝑠𝑒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sz="60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28258474"/>
                      </a:ext>
                    </a:extLst>
                  </a:tr>
                  <a:tr h="29237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𝑀𝐺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𝑒𝑣</m:t>
                                        </m:r>
                                      </m:e>
                                      <m:sub>
                                        <m: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𝑒𝑣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∪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∪</m:t>
                                    </m:r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𝑀𝑉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sz="60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42812865"/>
                      </a:ext>
                    </a:extLst>
                  </a:tr>
                  <a:tr h="27359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𝑚𝑣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𝑎𝑡𝑟</m:t>
                                            </m:r>
                                          </m:e>
                                          <m:sub>
                                            <m:r>
                                              <a:rPr lang="ru-RU" sz="6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ru-RU" sz="6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𝑀𝐺</m:t>
                                        </m:r>
                                      </m:e>
                                      <m:sub>
                                        <m:r>
                                          <a:rPr lang="en-US" sz="6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𝑚𝑣</m:t>
                                    </m:r>
                                  </m:e>
                                  <m:sub>
                                    <m:r>
                                      <a:rPr lang="ru-RU" sz="6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r>
                                  <a:rPr lang="ru-RU" sz="6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𝑀𝑉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ru-RU" sz="60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ru-RU" sz="60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60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6548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918667"/>
                  </p:ext>
                </p:extLst>
              </p:nvPr>
            </p:nvGraphicFramePr>
            <p:xfrm>
              <a:off x="12766167" y="1079500"/>
              <a:ext cx="10862760" cy="117221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474997">
                      <a:extLst>
                        <a:ext uri="{9D8B030D-6E8A-4147-A177-3AD203B41FA5}">
                          <a16:colId xmlns:a16="http://schemas.microsoft.com/office/drawing/2014/main" val="3909191159"/>
                        </a:ext>
                      </a:extLst>
                    </a:gridCol>
                    <a:gridCol w="1387763">
                      <a:extLst>
                        <a:ext uri="{9D8B030D-6E8A-4147-A177-3AD203B41FA5}">
                          <a16:colId xmlns:a16="http://schemas.microsoft.com/office/drawing/2014/main" val="4115958098"/>
                        </a:ext>
                      </a:extLst>
                    </a:gridCol>
                  </a:tblGrid>
                  <a:tr h="171371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14662" b="-584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2018" b="-5843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336252"/>
                      </a:ext>
                    </a:extLst>
                  </a:tr>
                  <a:tr h="171371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9645" r="-14662" b="-482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2018" t="-99645" b="-482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400617"/>
                      </a:ext>
                    </a:extLst>
                  </a:tr>
                  <a:tr h="2635027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30324" r="-14662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2018" t="-130324" b="-2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8258474"/>
                      </a:ext>
                    </a:extLst>
                  </a:tr>
                  <a:tr h="292371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7292" r="-14662" b="-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2018" t="-207292" b="-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812865"/>
                      </a:ext>
                    </a:extLst>
                  </a:tr>
                  <a:tr h="273593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28508" r="-14662" b="2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2018" t="-328508" b="2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5489939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 smtClean="0"/>
              <a:t>Преобразование метаграфа в </a:t>
            </a:r>
            <a:r>
              <a:rPr lang="ru-RU" dirty="0" err="1" smtClean="0"/>
              <a:t>многодольный</a:t>
            </a:r>
            <a:r>
              <a:rPr lang="ru-RU" dirty="0" smtClean="0"/>
              <a:t> граф</a:t>
            </a:r>
            <a:endParaRPr dirty="0"/>
          </a:p>
        </p:txBody>
      </p:sp>
      <p:pic>
        <p:nvPicPr>
          <p:cNvPr id="10" name="Рисунок 9" descr="D:\Artem\Documents\mag_BMSTU\Diploma\FlattedMG_Simple-doli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0" y="4695015"/>
            <a:ext cx="14366009" cy="7922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l="29015" t="30404" r="20303" b="14849"/>
          <a:stretch/>
        </p:blipFill>
        <p:spPr>
          <a:xfrm>
            <a:off x="1206500" y="2512663"/>
            <a:ext cx="9641609" cy="5858465"/>
          </a:xfrm>
          <a:prstGeom prst="rect">
            <a:avLst/>
          </a:prstGeom>
        </p:spPr>
      </p:pic>
      <p:sp>
        <p:nvSpPr>
          <p:cNvPr id="12" name="Удельная стоимость для виртуальных машин:"/>
          <p:cNvSpPr txBox="1"/>
          <p:nvPr/>
        </p:nvSpPr>
        <p:spPr>
          <a:xfrm>
            <a:off x="1277276" y="9744464"/>
            <a:ext cx="7534214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 smtClean="0"/>
              <a:t>Каждый узел метаграфа представляется в виде вершины плоского графа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 smtClean="0"/>
              <a:t>Преобразование метаграфа в </a:t>
            </a:r>
            <a:r>
              <a:rPr lang="ru-RU" dirty="0" err="1" smtClean="0"/>
              <a:t>многодольный</a:t>
            </a:r>
            <a:r>
              <a:rPr lang="ru-RU" dirty="0" smtClean="0"/>
              <a:t> граф</a:t>
            </a:r>
            <a:endParaRPr dirty="0"/>
          </a:p>
        </p:txBody>
      </p:sp>
      <p:pic>
        <p:nvPicPr>
          <p:cNvPr id="5" name="Рисунок 4" descr="C:\Users\Artem\Downloads\FlattedMG_Simple-full doli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736" y="2512663"/>
            <a:ext cx="13071764" cy="1037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l="29015" t="30404" r="20303" b="14849"/>
          <a:stretch/>
        </p:blipFill>
        <p:spPr>
          <a:xfrm>
            <a:off x="1206500" y="2512663"/>
            <a:ext cx="9641609" cy="5858465"/>
          </a:xfrm>
          <a:prstGeom prst="rect">
            <a:avLst/>
          </a:prstGeom>
        </p:spPr>
      </p:pic>
      <p:sp>
        <p:nvSpPr>
          <p:cNvPr id="6" name="Удельная стоимость для виртуальных машин:"/>
          <p:cNvSpPr txBox="1"/>
          <p:nvPr/>
        </p:nvSpPr>
        <p:spPr>
          <a:xfrm>
            <a:off x="1206500" y="9027491"/>
            <a:ext cx="9383797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 smtClean="0"/>
              <a:t>Введение класса узлов «Фрагмент» увеличивает размер плоского графа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9858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 smtClean="0"/>
              <a:t>Преобразование метаграфа в </a:t>
            </a:r>
            <a:r>
              <a:rPr lang="ru-RU" dirty="0" err="1" smtClean="0"/>
              <a:t>многодольный</a:t>
            </a:r>
            <a:r>
              <a:rPr lang="ru-RU" dirty="0" smtClean="0"/>
              <a:t> граф</a:t>
            </a:r>
            <a:endParaRPr dirty="0"/>
          </a:p>
        </p:txBody>
      </p:sp>
      <p:pic>
        <p:nvPicPr>
          <p:cNvPr id="6" name="Рисунок 5" descr="D:\Artem\Documents\mag_BMSTU\Diploma\FlattedMG_Simple-3 doli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127" y="4430952"/>
            <a:ext cx="13950373" cy="788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l="29015" t="30404" r="20303" b="14849"/>
          <a:stretch/>
        </p:blipFill>
        <p:spPr>
          <a:xfrm>
            <a:off x="1206500" y="2512663"/>
            <a:ext cx="9641609" cy="5858465"/>
          </a:xfrm>
          <a:prstGeom prst="rect">
            <a:avLst/>
          </a:prstGeom>
        </p:spPr>
      </p:pic>
      <p:sp>
        <p:nvSpPr>
          <p:cNvPr id="8" name="Удельная стоимость для виртуальных машин:"/>
          <p:cNvSpPr txBox="1"/>
          <p:nvPr/>
        </p:nvSpPr>
        <p:spPr>
          <a:xfrm>
            <a:off x="1206500" y="9804291"/>
            <a:ext cx="8020628" cy="209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 smtClean="0"/>
              <a:t>Сохранение классов вершин, </a:t>
            </a:r>
            <a:br>
              <a:rPr lang="ru-RU" dirty="0" smtClean="0"/>
            </a:br>
            <a:r>
              <a:rPr lang="ru-RU" dirty="0" smtClean="0"/>
              <a:t>имеющих собственный набор атрибутов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7660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Анализ аналогов и прототипов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14088918" cy="270279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Преобразование метаграфа в плоский граф</a:t>
            </a:r>
            <a:endParaRPr dirty="0"/>
          </a:p>
        </p:txBody>
      </p:sp>
      <p:pic>
        <p:nvPicPr>
          <p:cNvPr id="6" name="Рисунок 5" descr="D:\Artem\Documents\mag_BMSTU\Diploma\FlattedMG_Simple-3 doli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4218710"/>
            <a:ext cx="15244121" cy="853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D:\Artem\Documents\mag_BMSTU\Diploma\MetaGtoG-Both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436" y="1079500"/>
            <a:ext cx="6296891" cy="12118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0476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Выбор аппаратных средств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Алгоритмы </a:t>
            </a:r>
            <a:r>
              <a:rPr lang="ru-RU" dirty="0" err="1" smtClean="0"/>
              <a:t>эмбеддинга</a:t>
            </a:r>
            <a:r>
              <a:rPr lang="ru-RU" dirty="0" smtClean="0"/>
              <a:t> плоских графов</a:t>
            </a:r>
            <a:endParaRPr dirty="0"/>
          </a:p>
        </p:txBody>
      </p:sp>
      <p:sp>
        <p:nvSpPr>
          <p:cNvPr id="11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Встраивание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 сохранением близости высокого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порядка</a:t>
            </a:r>
            <a:b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High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Order Proximity preserved Embedding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HOPE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Собственные карты Лапласа 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Laplacian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Eigenmaps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LE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Node2Vec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06500" y="2512665"/>
                <a:ext cx="21009263" cy="8044500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 smtClean="0"/>
                  <a:t>Входные данные: матрица смежности графа, информация о направленности рёбер, размер векторного пространства</a:t>
                </a:r>
                <a:endParaRPr lang="en-US" dirty="0" smtClean="0"/>
              </a:p>
              <a:p>
                <a:r>
                  <a:rPr lang="ru-RU" dirty="0" smtClean="0"/>
                  <a:t>Алгоритм:</a:t>
                </a:r>
              </a:p>
              <a:p>
                <a:pPr lvl="1"/>
                <a:r>
                  <a:rPr lang="ru-RU" dirty="0" smtClean="0"/>
                  <a:t>Разложение матрицы смежности по </a:t>
                </a:r>
                <a:r>
                  <a:rPr lang="en-US" dirty="0" smtClean="0"/>
                  <a:t>SVD</a:t>
                </a:r>
                <a:r>
                  <a:rPr lang="ru-RU" dirty="0" smtClean="0"/>
                  <a:t> </a:t>
                </a:r>
                <a:r>
                  <a:rPr lang="ru-RU" dirty="0"/>
                  <a:t>на матрицы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lvl="1"/>
                <a:r>
                  <a:rPr lang="ru-RU" dirty="0" smtClean="0"/>
                  <a:t>Вычисление вектора сингулярных значений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dirty="0" smtClean="0"/>
                  <a:t>) и </a:t>
                </a:r>
                <a:br>
                  <a:rPr lang="ru-RU" dirty="0" smtClean="0"/>
                </a:br>
                <a:r>
                  <a:rPr lang="ru-RU" dirty="0" smtClean="0"/>
                  <a:t/>
                </a:r>
                <a:br>
                  <a:rPr lang="ru-RU" dirty="0" smtClean="0"/>
                </a:br>
                <a:r>
                  <a:rPr lang="ru-RU" dirty="0" smtClean="0"/>
                  <a:t>вектора начальных и конечных узлов графа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ru-RU" i="1">
                            <a:latin typeface="Cambria Math" panose="02040503050406030204" pitchFamily="18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dirty="0" smtClean="0"/>
                  <a:t>)</a:t>
                </a:r>
              </a:p>
              <a:p>
                <a:pPr lvl="1"/>
                <a:r>
                  <a:rPr lang="ru-RU" dirty="0" smtClean="0"/>
                  <a:t>Вычисление обобщённого вектора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1, …,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ru-RU" dirty="0" smtClean="0"/>
              </a:p>
              <a:p>
                <a:pPr lvl="1"/>
                <a:r>
                  <a:rPr lang="ru-RU" dirty="0" smtClean="0"/>
                  <a:t>Вычисление векторов узлов в искомом векторном пространстве:</a:t>
                </a:r>
                <a:endParaRPr lang="ru-RU" dirty="0"/>
              </a:p>
              <a:p>
                <a:pPr marL="609600" lvl="1" indent="0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06500" y="2512665"/>
                <a:ext cx="21009263" cy="8044500"/>
              </a:xfrm>
              <a:prstGeom prst="rect">
                <a:avLst/>
              </a:prstGeom>
              <a:blipFill>
                <a:blip r:embed="rId2"/>
                <a:stretch>
                  <a:fillRect l="-1596" t="-5000" b="-4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5846619" y="10557165"/>
                <a:ext cx="12192000" cy="146963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ra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ra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619" y="10557165"/>
                <a:ext cx="12192000" cy="1469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500" y="4197927"/>
            <a:ext cx="22102628" cy="8104909"/>
          </a:xfrm>
          <a:prstGeom prst="rect">
            <a:avLst/>
          </a:prstGeom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1941735" y="2512663"/>
            <a:ext cx="11235765" cy="82560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Сохранение близости похожих узлов метаграфа</a:t>
            </a:r>
          </a:p>
          <a:p>
            <a:r>
              <a:rPr lang="ru-RU" dirty="0"/>
              <a:t>Отсутствие элементов с одинаковыми </a:t>
            </a:r>
            <a:r>
              <a:rPr lang="ru-RU" dirty="0" smtClean="0"/>
              <a:t>координатами</a:t>
            </a:r>
          </a:p>
          <a:p>
            <a:r>
              <a:rPr lang="ru-RU" dirty="0" smtClean="0"/>
              <a:t>Микроскопическая разница между множеством узлов</a:t>
            </a:r>
          </a:p>
          <a:p>
            <a:r>
              <a:rPr lang="ru-RU" dirty="0" smtClean="0"/>
              <a:t>Несбалансированные значения координат узлов</a:t>
            </a:r>
            <a:endParaRPr lang="en-US" dirty="0" smtClean="0"/>
          </a:p>
        </p:txBody>
      </p:sp>
      <p:sp>
        <p:nvSpPr>
          <p:cNvPr id="3" name="Овал 2"/>
          <p:cNvSpPr/>
          <p:nvPr/>
        </p:nvSpPr>
        <p:spPr>
          <a:xfrm>
            <a:off x="1206500" y="8582891"/>
            <a:ext cx="4279900" cy="371994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474792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499" y="3945827"/>
            <a:ext cx="21893837" cy="7930606"/>
          </a:xfrm>
          <a:prstGeom prst="rect">
            <a:avLst/>
          </a:prstGeom>
        </p:spPr>
      </p:pic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1941735" y="2512663"/>
            <a:ext cx="11235765" cy="82560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Сохранение близости похожих узлов метаграфа</a:t>
            </a:r>
          </a:p>
          <a:p>
            <a:r>
              <a:rPr lang="ru-RU" dirty="0"/>
              <a:t>Отсутствие элементов с одинаковыми </a:t>
            </a:r>
            <a:r>
              <a:rPr lang="ru-RU" dirty="0" smtClean="0"/>
              <a:t>координатами</a:t>
            </a:r>
          </a:p>
          <a:p>
            <a:r>
              <a:rPr lang="ru-RU" dirty="0" smtClean="0"/>
              <a:t>Микроскопическая разница между множеством узлов</a:t>
            </a:r>
          </a:p>
          <a:p>
            <a:r>
              <a:rPr lang="ru-RU" dirty="0" smtClean="0"/>
              <a:t>Несбалансированные значения координат узлов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27221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HOPE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5" name="Рисунок 4" descr="D:\Artem\Documents\mag_BMSTU\Diploma\графики\hope edg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5253758"/>
            <a:ext cx="21976027" cy="778013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206499" y="2512663"/>
            <a:ext cx="15398173" cy="224637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Сохранение близости похожих узлов метаграфа</a:t>
            </a:r>
          </a:p>
          <a:p>
            <a:r>
              <a:rPr lang="ru-RU" dirty="0" smtClean="0"/>
              <a:t>Микроскопическая разница между множеством узлов</a:t>
            </a:r>
          </a:p>
        </p:txBody>
      </p:sp>
      <p:pic>
        <p:nvPicPr>
          <p:cNvPr id="6" name="Рисунок 5" descr="D:\Artem\Documents\mag_BMSTU\Diploma\графики\hope-ex1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3" t="34473"/>
          <a:stretch/>
        </p:blipFill>
        <p:spPr bwMode="auto">
          <a:xfrm>
            <a:off x="16230600" y="1079500"/>
            <a:ext cx="6946900" cy="62075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5310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06500" y="3387436"/>
                <a:ext cx="21971000" cy="911708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ru-RU" dirty="0" smtClean="0"/>
                  <a:t>Алгоритм сохраняет сходства между парами вершин</a:t>
                </a:r>
              </a:p>
              <a:p>
                <a:r>
                  <a:rPr lang="ru-RU" dirty="0" smtClean="0"/>
                  <a:t>Величина веса ребра прямо пропорциональна «схожести» вершин</a:t>
                </a:r>
              </a:p>
              <a:p>
                <a:r>
                  <a:rPr lang="ru-RU" dirty="0" smtClean="0"/>
                  <a:t>Суть алгоритма: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dirty="0" smtClean="0"/>
                  <a:t> - вектор узлов в векторном пространстве</a:t>
                </a:r>
                <a:endParaRPr lang="ru-RU" dirty="0"/>
              </a:p>
              <a:p>
                <a:pPr lvl="1"/>
                <a:r>
                  <a:rPr lang="ru-RU" dirty="0" smtClean="0"/>
                  <a:t>Минимизация функции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𝑎𝑟𝑔𝑚𝑖𝑛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ru-RU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𝐿𝑦</m:t>
                    </m:r>
                  </m:oMath>
                </a14:m>
                <a:r>
                  <a:rPr lang="ru-RU" dirty="0" smtClean="0"/>
                  <a:t>,</a:t>
                </a:r>
                <a:endParaRPr lang="ru-RU" dirty="0"/>
              </a:p>
              <a:p>
                <a:pPr marL="609600" lvl="1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dirty="0"/>
                  <a:t> – Лапласиан </a:t>
                </a:r>
                <a:r>
                  <a:rPr lang="ru-RU" dirty="0" smtClean="0"/>
                  <a:t>графа.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диагональная матрица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. Чем больше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тем более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  <a:endParaRPr lang="ru-RU" dirty="0" smtClean="0"/>
              </a:p>
            </p:txBody>
          </p:sp>
        </mc:Choice>
        <mc:Fallback xmlns="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06500" y="3387436"/>
                <a:ext cx="21971000" cy="9117080"/>
              </a:xfrm>
              <a:prstGeom prst="rect">
                <a:avLst/>
              </a:prstGeom>
              <a:blipFill>
                <a:blip r:embed="rId2"/>
                <a:stretch>
                  <a:fillRect l="-1693" t="-3478" r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1287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4" name="Рисунок 3" descr="D:\Artem\Documents\mag_BMSTU\Diploma\графики\LE3d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3"/>
            <a:ext cx="11966276" cy="9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4006945" y="3770522"/>
            <a:ext cx="9170555" cy="8256012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Сохранение близости первого-второго порядков</a:t>
            </a:r>
            <a:endParaRPr lang="en-US" dirty="0" smtClean="0"/>
          </a:p>
          <a:p>
            <a:r>
              <a:rPr lang="ru-RU" dirty="0" smtClean="0"/>
              <a:t>Скопление большинства узлов на одной «плоскости»</a:t>
            </a:r>
          </a:p>
          <a:p>
            <a:r>
              <a:rPr lang="ru-RU" dirty="0" smtClean="0"/>
              <a:t>Кучность данных</a:t>
            </a:r>
          </a:p>
          <a:p>
            <a:r>
              <a:rPr lang="ru-RU" dirty="0" smtClean="0"/>
              <a:t>Одинаковые координаты узлов разных классов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80695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4006945" y="6177168"/>
            <a:ext cx="9170555" cy="2888673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Скопление большинства узлов на одной «плоскости»</a:t>
            </a:r>
          </a:p>
          <a:p>
            <a:r>
              <a:rPr lang="ru-RU" dirty="0" smtClean="0"/>
              <a:t>Кучность данных</a:t>
            </a:r>
          </a:p>
        </p:txBody>
      </p:sp>
      <p:pic>
        <p:nvPicPr>
          <p:cNvPr id="5" name="Рисунок 4" descr="D:\Artem\Documents\mag_BMSTU\Diploma\графики\LE3dn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518" y="2512662"/>
            <a:ext cx="10701482" cy="10217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70189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3695218" y="8892680"/>
            <a:ext cx="9170555" cy="288867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ru-RU" dirty="0"/>
              <a:t>Сохранение близости первого-второго порядков</a:t>
            </a:r>
            <a:endParaRPr lang="en-US" dirty="0"/>
          </a:p>
          <a:p>
            <a:r>
              <a:rPr lang="ru-RU" dirty="0" smtClean="0"/>
              <a:t>Одинаковые координаты </a:t>
            </a:r>
            <a:r>
              <a:rPr lang="ru-RU" dirty="0"/>
              <a:t>узлов разных классов</a:t>
            </a:r>
            <a:endParaRPr lang="en-US" dirty="0"/>
          </a:p>
        </p:txBody>
      </p:sp>
      <p:pic>
        <p:nvPicPr>
          <p:cNvPr id="6" name="Рисунок 5" descr="D:\Artem\Documents\mag_BMSTU\Diploma\графики\LE3mv8mv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2"/>
            <a:ext cx="9787082" cy="1047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D:\Artem\Documents\mag_BMSTU\Diploma\Big metagraph-Page-4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1" r="7476"/>
          <a:stretch/>
        </p:blipFill>
        <p:spPr bwMode="auto">
          <a:xfrm>
            <a:off x="13695218" y="2512662"/>
            <a:ext cx="9170555" cy="55331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40386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/>
          <p:nvPr/>
        </p:nvPicPr>
        <p:blipFill rotWithShape="1">
          <a:blip r:embed="rId2"/>
          <a:srcRect l="4257" t="28519" r="9468" b="13164"/>
          <a:stretch/>
        </p:blipFill>
        <p:spPr bwMode="auto">
          <a:xfrm>
            <a:off x="1206499" y="3366656"/>
            <a:ext cx="21974249" cy="84353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6402628" y="2512663"/>
            <a:ext cx="6774872" cy="503125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Скопление большинства узлов на одной «плоскости»</a:t>
            </a:r>
          </a:p>
          <a:p>
            <a:r>
              <a:rPr lang="ru-RU" dirty="0" smtClean="0"/>
              <a:t>Одинаковые координаты </a:t>
            </a:r>
            <a:r>
              <a:rPr lang="ru-RU" dirty="0"/>
              <a:t>узлов разных классов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1305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Laplacian </a:t>
            </a:r>
            <a:r>
              <a:rPr lang="en-US" dirty="0" err="1" smtClean="0"/>
              <a:t>Eigenmaps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499" y="2621238"/>
            <a:ext cx="21892973" cy="6989295"/>
          </a:xfrm>
          <a:prstGeom prst="rect">
            <a:avLst/>
          </a:prstGeom>
        </p:spPr>
      </p:pic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4422148" y="9719108"/>
            <a:ext cx="15461673" cy="25816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Скопление большинства узлов на одной «плоскости»</a:t>
            </a:r>
          </a:p>
          <a:p>
            <a:r>
              <a:rPr lang="ru-RU" dirty="0" smtClean="0"/>
              <a:t>Одинаковые координаты </a:t>
            </a:r>
            <a:r>
              <a:rPr lang="ru-RU" dirty="0"/>
              <a:t>узлов разных классов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4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192000" y="1079500"/>
                <a:ext cx="11235765" cy="11576627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dirty="0" smtClean="0"/>
                  <a:t>Алгоритм формирует случайные пути в графе путём его обходов</a:t>
                </a:r>
              </a:p>
              <a:p>
                <a:pPr lvl="1"/>
                <a:r>
                  <a:rPr lang="ru-RU" dirty="0" smtClean="0"/>
                  <a:t>Находясь в вершине </a:t>
                </a:r>
                <a:r>
                  <a:rPr lang="en-US" dirty="0" smtClean="0"/>
                  <a:t>v</a:t>
                </a:r>
                <a:r>
                  <a:rPr lang="ru-RU" dirty="0"/>
                  <a:t> </a:t>
                </a:r>
                <a:r>
                  <a:rPr lang="ru-RU" dirty="0" smtClean="0"/>
                  <a:t>вероятность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𝑣𝑥</m:t>
                        </m:r>
                      </m:sub>
                    </m:sSub>
                  </m:oMath>
                </a14:m>
                <a:r>
                  <a:rPr lang="ru-RU" dirty="0"/>
                  <a:t> перехода </a:t>
                </a:r>
                <a:r>
                  <a:rPr lang="ru-RU" dirty="0" smtClean="0"/>
                  <a:t>к </a:t>
                </a:r>
                <a:r>
                  <a:rPr lang="ru-RU" dirty="0"/>
                  <a:t>вершинам </a:t>
                </a:r>
                <a:r>
                  <a:rPr lang="en-US" dirty="0"/>
                  <a:t>t </a:t>
                </a:r>
                <a:r>
                  <a:rPr lang="ru-RU" dirty="0"/>
                  <a:t>и </a:t>
                </a:r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  <a:r>
                  <a:rPr lang="en-US" dirty="0"/>
                  <a:t> </a:t>
                </a:r>
                <a:r>
                  <a:rPr lang="ru-RU" dirty="0"/>
                  <a:t>равна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𝑣𝑥</m:t>
                        </m:r>
                      </m:sub>
                    </m:sSub>
                  </m:oMath>
                </a14:m>
                <a:r>
                  <a:rPr lang="ru-RU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𝑣𝑥</m:t>
                        </m:r>
                      </m:sub>
                    </m:sSub>
                  </m:oMath>
                </a14:m>
                <a:r>
                  <a:rPr lang="ru-RU" dirty="0"/>
                  <a:t>, </a:t>
                </a:r>
                <a:r>
                  <a:rPr lang="ru-RU" dirty="0" smtClean="0"/>
                  <a:t>где</a:t>
                </a:r>
              </a:p>
              <a:p>
                <a:pPr lvl="1"/>
                <a:endParaRPr lang="ru-RU" sz="4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,  если 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1,  если 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,  если 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𝑡𝑥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4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𝑡𝑥</m:t>
                        </m:r>
                      </m:sub>
                    </m:sSub>
                  </m:oMath>
                </a14:m>
                <a:r>
                  <a:rPr lang="ru-RU" dirty="0"/>
                  <a:t> обозначает кратчайшее расстояние между узлами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ru-RU" dirty="0"/>
              </a:p>
              <a:p>
                <a:r>
                  <a:rPr lang="en-US" dirty="0" smtClean="0"/>
                  <a:t>p </a:t>
                </a:r>
                <a:r>
                  <a:rPr lang="ru-RU" dirty="0"/>
                  <a:t>описывает вероятность </a:t>
                </a:r>
                <a:r>
                  <a:rPr lang="ru-RU" dirty="0" smtClean="0"/>
                  <a:t>возвращения,</a:t>
                </a:r>
                <a:br>
                  <a:rPr lang="ru-RU" dirty="0" smtClean="0"/>
                </a:br>
                <a:r>
                  <a:rPr lang="en-US" dirty="0" smtClean="0"/>
                  <a:t>q </a:t>
                </a:r>
                <a:r>
                  <a:rPr lang="en-US" dirty="0"/>
                  <a:t>– </a:t>
                </a:r>
                <a:r>
                  <a:rPr lang="ru-RU" dirty="0" smtClean="0"/>
                  <a:t>продвижения вперёд</a:t>
                </a:r>
                <a:endParaRPr lang="en-U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89" name="Для упрощения проекта производится его структурная декомпозиция на подсистемы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192000" y="1079500"/>
                <a:ext cx="11235765" cy="11576627"/>
              </a:xfrm>
              <a:prstGeom prst="rect">
                <a:avLst/>
              </a:prstGeom>
              <a:blipFill>
                <a:blip r:embed="rId2"/>
                <a:stretch>
                  <a:fillRect l="-2984" t="-30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9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1" t="4721" r="2218" b="1415"/>
          <a:stretch/>
        </p:blipFill>
        <p:spPr>
          <a:xfrm>
            <a:off x="1497444" y="5631872"/>
            <a:ext cx="9518074" cy="7024255"/>
          </a:xfrm>
          <a:prstGeom prst="rect">
            <a:avLst/>
          </a:prstGeom>
        </p:spPr>
      </p:pic>
      <p:sp>
        <p:nvSpPr>
          <p:cNvPr id="7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497444" y="3108320"/>
            <a:ext cx="8831119" cy="233651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smtClean="0"/>
              <a:t>Случайным блужданием произошёл переход из вершины </a:t>
            </a:r>
            <a:r>
              <a:rPr lang="en-US" dirty="0" smtClean="0"/>
              <a:t>t </a:t>
            </a:r>
            <a:r>
              <a:rPr lang="ru-RU" dirty="0" smtClean="0"/>
              <a:t>в вершину </a:t>
            </a:r>
            <a:r>
              <a:rPr lang="en-US" dirty="0" smtClean="0"/>
              <a:t>v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87118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sp>
        <p:nvSpPr>
          <p:cNvPr id="189" name="Для упрощения проекта производится его структурная декомпозиция на подсистемы…"/>
          <p:cNvSpPr txBox="1">
            <a:spLocks noGrp="1"/>
          </p:cNvSpPr>
          <p:nvPr>
            <p:ph type="body" sz="half" idx="1"/>
          </p:nvPr>
        </p:nvSpPr>
        <p:spPr>
          <a:xfrm>
            <a:off x="13965382" y="3886130"/>
            <a:ext cx="9212118" cy="7264215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Сохранение структуры метаграфа</a:t>
            </a:r>
          </a:p>
          <a:p>
            <a:r>
              <a:rPr lang="ru-RU" dirty="0" smtClean="0"/>
              <a:t>Равномерное распределение элементов по пространству</a:t>
            </a:r>
          </a:p>
          <a:p>
            <a:r>
              <a:rPr lang="ru-RU" dirty="0" smtClean="0"/>
              <a:t>Отсутствие элементов с одинаковыми координатами</a:t>
            </a:r>
          </a:p>
          <a:p>
            <a:r>
              <a:rPr lang="ru-RU" dirty="0" smtClean="0"/>
              <a:t>Небольшая величина координат элементов</a:t>
            </a:r>
            <a:endParaRPr lang="en-US" dirty="0" smtClean="0"/>
          </a:p>
        </p:txBody>
      </p:sp>
      <p:pic>
        <p:nvPicPr>
          <p:cNvPr id="4" name="Рисунок 3" descr="D:\Artem\Documents\mag_BMSTU\Diploma\графики\n2v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12663"/>
            <a:ext cx="11927608" cy="10011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26065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4" name="Рисунок 3" descr="D:\Artem\Documents\mag_BMSTU\Diploma\графики\n2v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414" y="2531508"/>
            <a:ext cx="11927608" cy="1001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Овал 1"/>
          <p:cNvSpPr/>
          <p:nvPr/>
        </p:nvSpPr>
        <p:spPr>
          <a:xfrm>
            <a:off x="13750059" y="1413164"/>
            <a:ext cx="4765963" cy="4840227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167854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2641600" y="3238500"/>
            <a:ext cx="8062191" cy="92998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5392" y="1079546"/>
            <a:ext cx="9348354" cy="11458817"/>
          </a:xfrm>
          <a:prstGeom prst="rect">
            <a:avLst/>
          </a:prstGeom>
        </p:spPr>
      </p:pic>
      <p:pic>
        <p:nvPicPr>
          <p:cNvPr id="2050" name="Рисунок 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067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Рисунок 5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416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3181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4" name="Рисунок 3" descr="D:\Artem\Documents\mag_BMSTU\Diploma\графики\n2v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416" y="2564806"/>
            <a:ext cx="11927608" cy="100111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Овал 2"/>
          <p:cNvSpPr/>
          <p:nvPr/>
        </p:nvSpPr>
        <p:spPr>
          <a:xfrm>
            <a:off x="6628459" y="5666135"/>
            <a:ext cx="2494275" cy="2296632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16424402" y="5389687"/>
            <a:ext cx="2296632" cy="2232837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310288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513" y="2512663"/>
            <a:ext cx="7334827" cy="685358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543" y="2512662"/>
            <a:ext cx="8324431" cy="71924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017" y="9705108"/>
            <a:ext cx="3959818" cy="30341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0013" y="9705107"/>
            <a:ext cx="4885490" cy="30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142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3801134"/>
            <a:ext cx="21970250" cy="64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544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одсистемы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Node2Vec</a:t>
            </a:r>
            <a:r>
              <a:rPr lang="ru-RU" dirty="0" smtClean="0"/>
              <a:t>. Эксперимент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4154426"/>
            <a:ext cx="21971000" cy="694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652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Заключение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Заключение</a:t>
            </a:r>
          </a:p>
        </p:txBody>
      </p:sp>
      <p:sp>
        <p:nvSpPr>
          <p:cNvPr id="268" name="В процессе разработки системы автоматизации разработки и обеспечения доступности все поставленные задачи достигнуты.…"/>
          <p:cNvSpPr txBox="1">
            <a:spLocks noGrp="1"/>
          </p:cNvSpPr>
          <p:nvPr>
            <p:ph type="body" sz="half" idx="1"/>
          </p:nvPr>
        </p:nvSpPr>
        <p:spPr>
          <a:xfrm>
            <a:off x="1206500" y="4895369"/>
            <a:ext cx="21971000" cy="5218992"/>
          </a:xfrm>
          <a:prstGeom prst="rect">
            <a:avLst/>
          </a:prstGeom>
        </p:spPr>
        <p:txBody>
          <a:bodyPr/>
          <a:lstStyle/>
          <a:p>
            <a:r>
              <a:rPr dirty="0"/>
              <a:t>В </a:t>
            </a:r>
            <a:r>
              <a:rPr dirty="0" err="1"/>
              <a:t>процессе</a:t>
            </a:r>
            <a:r>
              <a:rPr/>
              <a:t> </a:t>
            </a:r>
            <a:r>
              <a:rPr lang="ru-RU" smtClean="0"/>
              <a:t>исследования </a:t>
            </a:r>
            <a:r>
              <a:rPr dirty="0" err="1" smtClean="0"/>
              <a:t>все</a:t>
            </a:r>
            <a:r>
              <a:rPr dirty="0" smtClean="0"/>
              <a:t> </a:t>
            </a:r>
            <a:r>
              <a:rPr dirty="0" err="1"/>
              <a:t>поставленные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 smtClean="0"/>
              <a:t>достигнуты</a:t>
            </a:r>
            <a:endParaRPr lang="ru-RU" dirty="0" smtClean="0"/>
          </a:p>
          <a:p>
            <a:r>
              <a:rPr dirty="0" err="1" smtClean="0"/>
              <a:t>Разработанн</a:t>
            </a:r>
            <a:r>
              <a:rPr lang="ru-RU" dirty="0" err="1" smtClean="0"/>
              <a:t>ый</a:t>
            </a:r>
            <a:r>
              <a:rPr lang="ru-RU" dirty="0" smtClean="0"/>
              <a:t> метод</a:t>
            </a:r>
            <a:r>
              <a:rPr dirty="0" smtClean="0"/>
              <a:t>: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lang="ru-RU" dirty="0" smtClean="0"/>
              <a:t>производит </a:t>
            </a:r>
            <a:r>
              <a:rPr lang="ru-RU" dirty="0" err="1" smtClean="0"/>
              <a:t>эмбеддинг</a:t>
            </a:r>
            <a:r>
              <a:rPr lang="ru-RU" dirty="0" smtClean="0"/>
              <a:t> метаграфа, подготавливая данные к использованию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богатый</a:t>
            </a:r>
            <a:r>
              <a:rPr dirty="0"/>
              <a:t> </a:t>
            </a:r>
            <a:r>
              <a:rPr dirty="0" err="1"/>
              <a:t>потенциал</a:t>
            </a:r>
            <a:r>
              <a:rPr dirty="0"/>
              <a:t> </a:t>
            </a:r>
            <a:r>
              <a:rPr dirty="0" err="1"/>
              <a:t>дальнейших</a:t>
            </a:r>
            <a:r>
              <a:rPr dirty="0"/>
              <a:t> </a:t>
            </a:r>
            <a:r>
              <a:rPr dirty="0" err="1" smtClean="0"/>
              <a:t>усовершенствований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Список публикаций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Список публикаций</a:t>
            </a:r>
          </a:p>
        </p:txBody>
      </p:sp>
      <p:sp>
        <p:nvSpPr>
          <p:cNvPr id="271" name="Кучеренко М.А., Манифест о цифровой экосистеме кафедральных проектов // Сборник тезисов докладов по итогам Всероссийской студенческой конференции «Студенческая научная весна», посвященной 175-летию Н.Е. Жуковского, 2022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445008" indent="-445008" defTabSz="1779987">
              <a:spcBef>
                <a:spcPts val="3200"/>
              </a:spcBef>
              <a:defRPr sz="3504"/>
            </a:pPr>
            <a:r>
              <a:rPr lang="ru-RU" sz="3500" dirty="0" err="1"/>
              <a:t>Ишков</a:t>
            </a:r>
            <a:r>
              <a:rPr lang="ru-RU" sz="3500" dirty="0"/>
              <a:t> Д.О., Фадеев А.А., Курганова А.Г., </a:t>
            </a:r>
            <a:r>
              <a:rPr lang="ru-RU" sz="3500" dirty="0" err="1"/>
              <a:t>Мокренко</a:t>
            </a:r>
            <a:r>
              <a:rPr lang="ru-RU" sz="3500" dirty="0"/>
              <a:t> Н.В., Правдина А.Д. Разработка </a:t>
            </a:r>
            <a:r>
              <a:rPr lang="ru-RU" sz="3500" dirty="0" err="1"/>
              <a:t>миварной</a:t>
            </a:r>
            <a:r>
              <a:rPr lang="ru-RU" sz="3500" dirty="0"/>
              <a:t> экспертной системы для подбора оправы для очков // Искусственный интеллект в автоматизированных системах управления и обработки данных. ИИАСУ’22. Сборник статей всероссийской научной конференции. – М.: ИНФРА-М. – 2022. – Т.1. – С. 89-96</a:t>
            </a:r>
            <a:r>
              <a:rPr lang="ru-RU" sz="3500" dirty="0" smtClean="0"/>
              <a:t>.</a:t>
            </a:r>
            <a:endParaRPr lang="en-US" sz="3500" dirty="0" smtClean="0"/>
          </a:p>
          <a:p>
            <a:pPr marL="445008" indent="-445008" defTabSz="1779987">
              <a:spcBef>
                <a:spcPts val="3200"/>
              </a:spcBef>
              <a:defRPr sz="3504"/>
            </a:pPr>
            <a:r>
              <a:rPr lang="ru-RU" sz="3500" dirty="0" err="1"/>
              <a:t>Ишков</a:t>
            </a:r>
            <a:r>
              <a:rPr lang="ru-RU" sz="3500" dirty="0"/>
              <a:t> Д.О., </a:t>
            </a:r>
            <a:r>
              <a:rPr lang="ru-RU" sz="3500" dirty="0" err="1"/>
              <a:t>Мокренко</a:t>
            </a:r>
            <a:r>
              <a:rPr lang="ru-RU" sz="3500" dirty="0"/>
              <a:t> Н.В., Фадеев А.А. Применение генетического алгоритма в поиске </a:t>
            </a:r>
            <a:r>
              <a:rPr lang="ru-RU" sz="3500" dirty="0" err="1"/>
              <a:t>нейросетевой</a:t>
            </a:r>
            <a:r>
              <a:rPr lang="ru-RU" sz="3500" dirty="0"/>
              <a:t> архитектуры: решение задачи аппроксимации метода динамического анаморфирования // Искусственный интеллект в автоматизированных системах управления и обработки данных. ИИАСУ’22. Сборник статей всероссийской научной конференции. – М.: ИНФРА-М. – 2022. – Т.1. – С. 192-199</a:t>
            </a:r>
            <a:r>
              <a:rPr lang="ru-RU" sz="3500" dirty="0" smtClean="0"/>
              <a:t>.</a:t>
            </a:r>
            <a:endParaRPr lang="en-US" sz="35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1234</Words>
  <Application>Microsoft Office PowerPoint</Application>
  <PresentationFormat>Произвольный</PresentationFormat>
  <Paragraphs>120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Calibri</vt:lpstr>
      <vt:lpstr>Cambria Math</vt:lpstr>
      <vt:lpstr>Helvetica Neue</vt:lpstr>
      <vt:lpstr>Helvetica Neue Medium</vt:lpstr>
      <vt:lpstr>Times New Roman</vt:lpstr>
      <vt:lpstr>21_BasicWhite</vt:lpstr>
      <vt:lpstr>Исследование векторного представления метаграфов</vt:lpstr>
      <vt:lpstr>Цель и актуальность работы</vt:lpstr>
      <vt:lpstr>Задачи</vt:lpstr>
      <vt:lpstr>Метаграф</vt:lpstr>
      <vt:lpstr>Преобразование метаграфа в многодольный граф</vt:lpstr>
      <vt:lpstr>Преобразование метаграфа в многодольный граф</vt:lpstr>
      <vt:lpstr>Преобразование метаграфа в многодольный граф</vt:lpstr>
      <vt:lpstr>Преобразование метаграфа в плоский граф</vt:lpstr>
      <vt:lpstr>Алгоритмы эмбеддинга плоских графов</vt:lpstr>
      <vt:lpstr>HOPE</vt:lpstr>
      <vt:lpstr>HOPE. Эксперимент</vt:lpstr>
      <vt:lpstr>HOPE. Эксперимент</vt:lpstr>
      <vt:lpstr>HOPE. Эксперимент</vt:lpstr>
      <vt:lpstr>Laplacian Eigenmaps</vt:lpstr>
      <vt:lpstr>Laplacian Eigenmaps. Эксперимент</vt:lpstr>
      <vt:lpstr>Laplacian Eigenmaps. Эксперимент</vt:lpstr>
      <vt:lpstr>Laplacian Eigenmaps. Эксперимент</vt:lpstr>
      <vt:lpstr>Laplacian Eigenmaps. Эксперимент</vt:lpstr>
      <vt:lpstr>Laplacian Eigenmaps. Эксперимент</vt:lpstr>
      <vt:lpstr>Node2Vec</vt:lpstr>
      <vt:lpstr>Node2Vec. Эксперимент</vt:lpstr>
      <vt:lpstr>Node2Vec. Эксперимент</vt:lpstr>
      <vt:lpstr>Node2Vec. Эксперимент</vt:lpstr>
      <vt:lpstr>Node2Vec. Эксперимент</vt:lpstr>
      <vt:lpstr>Node2Vec. Эксперимент</vt:lpstr>
      <vt:lpstr>Node2Vec. Эксперимент</vt:lpstr>
      <vt:lpstr>Node2Vec. Эксперимент</vt:lpstr>
      <vt:lpstr>Заключение</vt:lpstr>
      <vt:lpstr>Список публикаций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автоматизации разработки и обеспечения доступности проектов</dc:title>
  <dc:creator>Артем Фадеев</dc:creator>
  <cp:lastModifiedBy>Артем Фадеев</cp:lastModifiedBy>
  <cp:revision>65</cp:revision>
  <dcterms:modified xsi:type="dcterms:W3CDTF">2022-06-22T22:34:20Z</dcterms:modified>
</cp:coreProperties>
</file>