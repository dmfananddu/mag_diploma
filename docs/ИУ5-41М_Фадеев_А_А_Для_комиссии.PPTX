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81" r:id="rId3"/>
    <p:sldId id="283" r:id="rId4"/>
    <p:sldId id="302" r:id="rId5"/>
    <p:sldId id="301" r:id="rId6"/>
    <p:sldId id="287" r:id="rId7"/>
    <p:sldId id="297" r:id="rId8"/>
    <p:sldId id="298" r:id="rId9"/>
    <p:sldId id="300" r:id="rId10"/>
    <p:sldId id="291" r:id="rId11"/>
    <p:sldId id="288" r:id="rId12"/>
    <p:sldId id="292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66"/>
  </p:normalViewPr>
  <p:slideViewPr>
    <p:cSldViewPr snapToGrid="0" snapToObjects="1">
      <p:cViewPr varScale="1">
        <p:scale>
          <a:sx n="31" d="100"/>
          <a:sy n="31" d="100"/>
        </p:scale>
        <p:origin x="8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Автор и дата</a:t>
            </a:r>
          </a:p>
        </p:txBody>
      </p:sp>
      <p:sp>
        <p:nvSpPr>
          <p:cNvPr id="1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Подзаголовок презентации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eg"/>
          <p:cNvSpPr>
            <a:spLocks noGrp="1"/>
          </p:cNvSpPr>
          <p:nvPr>
            <p:ph type="pic" idx="13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Заголовок презентации</a:t>
            </a:r>
          </a:p>
        </p:txBody>
      </p:sp>
      <p:sp>
        <p:nvSpPr>
          <p:cNvPr id="23" name="Автор и дата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Подзаголовок презентации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eg"/>
          <p:cNvSpPr>
            <a:spLocks noGrp="1"/>
          </p:cNvSpPr>
          <p:nvPr>
            <p:ph type="pic" idx="13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Заголовок слайда</a:t>
            </a:r>
          </a:p>
        </p:txBody>
      </p:sp>
      <p:sp>
        <p:nvSpPr>
          <p:cNvPr id="3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>
            <a:lvl1pPr>
              <a:defRPr>
                <a:latin typeface="+mn-lt"/>
                <a:ea typeface="+mn-ea"/>
                <a:cs typeface="+mn-cs"/>
                <a:sym typeface="Helvetica Neue"/>
              </a:defRPr>
            </a:lvl1pPr>
            <a:lvl2pPr>
              <a:defRPr>
                <a:latin typeface="+mn-lt"/>
                <a:ea typeface="+mn-ea"/>
                <a:cs typeface="+mn-cs"/>
                <a:sym typeface="Helvetica Neue"/>
              </a:defRPr>
            </a:lvl2pPr>
            <a:lvl3pPr>
              <a:defRPr>
                <a:latin typeface="+mn-lt"/>
                <a:ea typeface="+mn-ea"/>
                <a:cs typeface="+mn-cs"/>
                <a:sym typeface="Helvetica Neue"/>
              </a:defRPr>
            </a:lvl3pPr>
            <a:lvl4pPr>
              <a:defRPr>
                <a:latin typeface="+mn-lt"/>
                <a:ea typeface="+mn-ea"/>
                <a:cs typeface="+mn-cs"/>
                <a:sym typeface="Helvetica Neue"/>
              </a:defRPr>
            </a:lvl4pPr>
            <a:lvl5pPr>
              <a:defRPr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Neue"/>
              </a:defRPr>
            </a:lvl1pPr>
            <a:lvl2pPr>
              <a:defRPr>
                <a:latin typeface="+mn-lt"/>
                <a:ea typeface="+mn-ea"/>
                <a:cs typeface="+mn-cs"/>
                <a:sym typeface="Helvetica Neue"/>
              </a:defRPr>
            </a:lvl2pPr>
            <a:lvl3pPr>
              <a:defRPr>
                <a:latin typeface="+mn-lt"/>
                <a:ea typeface="+mn-ea"/>
                <a:cs typeface="+mn-cs"/>
                <a:sym typeface="Helvetica Neue"/>
              </a:defRPr>
            </a:lvl3pPr>
            <a:lvl4pPr>
              <a:defRPr>
                <a:latin typeface="+mn-lt"/>
                <a:ea typeface="+mn-ea"/>
                <a:cs typeface="+mn-cs"/>
                <a:sym typeface="Helvetica Neue"/>
              </a:defRPr>
            </a:lvl4pPr>
            <a:lvl5pPr>
              <a:defRPr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eg"/>
          <p:cNvSpPr>
            <a:spLocks noGrp="1"/>
          </p:cNvSpPr>
          <p:nvPr>
            <p:ph type="pic" idx="14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Заголовок слайда</a:t>
            </a:r>
          </a:p>
        </p:txBody>
      </p:sp>
      <p:sp>
        <p:nvSpPr>
          <p:cNvPr id="6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раздела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Заголовок раздела</a:t>
            </a:r>
          </a:p>
        </p:txBody>
      </p:sp>
      <p:sp>
        <p:nvSpPr>
          <p:cNvPr id="7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Заголовок слайда</a:t>
            </a:r>
          </a:p>
        </p:txBody>
      </p:sp>
      <p:sp>
        <p:nvSpPr>
          <p:cNvPr id="80" name="Подзаголовок слайда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Подзаголовок слайда</a:t>
            </a:r>
          </a:p>
        </p:txBody>
      </p:sp>
      <p:sp>
        <p:nvSpPr>
          <p:cNvPr id="8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повестки дня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Заголовок повестки дня</a:t>
            </a:r>
          </a:p>
        </p:txBody>
      </p:sp>
      <p:sp>
        <p:nvSpPr>
          <p:cNvPr id="89" name="Подзаголовок повестки дня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Подзаголовок повестки дня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>
                <a:latin typeface="+mn-lt"/>
                <a:ea typeface="+mn-ea"/>
                <a:cs typeface="+mn-cs"/>
                <a:sym typeface="Helvetica Neue"/>
              </a:defRPr>
            </a:lvl1pPr>
            <a:lvl2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>
                <a:latin typeface="+mn-lt"/>
                <a:ea typeface="+mn-ea"/>
                <a:cs typeface="+mn-cs"/>
                <a:sym typeface="Helvetica Neue"/>
              </a:defRPr>
            </a:lvl2pPr>
            <a:lvl3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>
                <a:latin typeface="+mn-lt"/>
                <a:ea typeface="+mn-ea"/>
                <a:cs typeface="+mn-cs"/>
                <a:sym typeface="Helvetica Neue"/>
              </a:defRPr>
            </a:lvl3pPr>
            <a:lvl4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>
                <a:latin typeface="+mn-lt"/>
                <a:ea typeface="+mn-ea"/>
                <a:cs typeface="+mn-cs"/>
                <a:sym typeface="Helvetica Neue"/>
              </a:defRPr>
            </a:lvl4pPr>
            <a:lvl5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Темы повестки дня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Информационное сообщение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latin typeface="+mn-lt"/>
                <a:ea typeface="+mn-ea"/>
                <a:cs typeface="+mn-cs"/>
                <a:sym typeface="Helvetica Neue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latin typeface="+mn-lt"/>
                <a:ea typeface="+mn-ea"/>
                <a:cs typeface="+mn-cs"/>
                <a:sym typeface="Helvetica Neue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latin typeface="+mn-lt"/>
                <a:ea typeface="+mn-ea"/>
                <a:cs typeface="+mn-cs"/>
                <a:sym typeface="Helvetica Neue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latin typeface="+mn-lt"/>
                <a:ea typeface="+mn-ea"/>
                <a:cs typeface="+mn-cs"/>
                <a:sym typeface="Helvetica Neue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100 %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Информация о факте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Информация о факте</a:t>
            </a:r>
          </a:p>
        </p:txBody>
      </p:sp>
      <p:sp>
        <p:nvSpPr>
          <p:cNvPr id="10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Авторство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Авторство</a:t>
            </a:r>
          </a:p>
        </p:txBody>
      </p:sp>
      <p:sp>
        <p:nvSpPr>
          <p:cNvPr id="116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«Важная цитата»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Изображение"/>
          <p:cNvSpPr>
            <a:spLocks noGrp="1"/>
          </p:cNvSpPr>
          <p:nvPr>
            <p:ph type="pic" sz="quarter" idx="13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Изображение"/>
          <p:cNvSpPr>
            <a:spLocks noGrp="1"/>
          </p:cNvSpPr>
          <p:nvPr>
            <p:ph type="pic" sz="half" idx="14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Изображение"/>
          <p:cNvSpPr>
            <a:spLocks noGrp="1"/>
          </p:cNvSpPr>
          <p:nvPr>
            <p:ph type="pic" idx="15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Изображение"/>
          <p:cNvSpPr>
            <a:spLocks noGrp="1"/>
          </p:cNvSpPr>
          <p:nvPr>
            <p:ph type="pic" idx="13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Заголовок слайда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1pPr>
      <a:lvl2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2pPr>
      <a:lvl3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3pPr>
      <a:lvl4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4pPr>
      <a:lvl5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5pPr>
      <a:lvl6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6pPr>
      <a:lvl7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7pPr>
      <a:lvl8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8pPr>
      <a:lvl9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9pPr>
    </p:titleStyle>
    <p:bodyStyle>
      <a:lvl1pPr marL="6096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1pPr>
      <a:lvl2pPr marL="12192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2pPr>
      <a:lvl3pPr marL="18288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3pPr>
      <a:lvl4pPr marL="24384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4pPr>
      <a:lvl5pPr marL="30480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5pPr>
      <a:lvl6pPr marL="36576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6pPr>
      <a:lvl7pPr marL="42672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7pPr>
      <a:lvl8pPr marL="48768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8pPr>
      <a:lvl9pPr marL="54864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10.06.2022"/>
          <p:cNvSpPr txBox="1">
            <a:spLocks noGrp="1"/>
          </p:cNvSpPr>
          <p:nvPr>
            <p:ph type="body" idx="13"/>
          </p:nvPr>
        </p:nvSpPr>
        <p:spPr>
          <a:xfrm>
            <a:off x="20632120" y="11859862"/>
            <a:ext cx="2540222" cy="6369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>
            <a:lvl1pPr algn="r"/>
          </a:lstStyle>
          <a:p>
            <a:r>
              <a:rPr lang="ru-RU" dirty="0" smtClean="0"/>
              <a:t>23</a:t>
            </a:r>
            <a:r>
              <a:rPr dirty="0" smtClean="0"/>
              <a:t>.06.2022</a:t>
            </a:r>
            <a:endParaRPr dirty="0"/>
          </a:p>
        </p:txBody>
      </p:sp>
      <p:sp>
        <p:nvSpPr>
          <p:cNvPr id="152" name="Система автоматизации разработки и обеспечения доступности проектов"/>
          <p:cNvSpPr txBox="1">
            <a:spLocks noGrp="1"/>
          </p:cNvSpPr>
          <p:nvPr>
            <p:ph type="ctrTitle"/>
          </p:nvPr>
        </p:nvSpPr>
        <p:spPr>
          <a:xfrm>
            <a:off x="1206498" y="1328391"/>
            <a:ext cx="21971004" cy="3279216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9400" spc="-188"/>
            </a:lvl1pPr>
          </a:lstStyle>
          <a:p>
            <a:r>
              <a:rPr lang="ru-RU" dirty="0" smtClean="0"/>
              <a:t>Исследование векторного представления </a:t>
            </a:r>
            <a:r>
              <a:rPr lang="ru-RU" dirty="0" err="1" smtClean="0"/>
              <a:t>метаграфов</a:t>
            </a:r>
            <a:endParaRPr dirty="0"/>
          </a:p>
        </p:txBody>
      </p:sp>
      <p:sp>
        <p:nvSpPr>
          <p:cNvPr id="154" name="Кучеренко М.А.…"/>
          <p:cNvSpPr txBox="1"/>
          <p:nvPr/>
        </p:nvSpPr>
        <p:spPr>
          <a:xfrm>
            <a:off x="7471462" y="5883309"/>
            <a:ext cx="15700879" cy="513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pPr lvl="4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4000" dirty="0" smtClean="0"/>
              <a:t>Фадеев А</a:t>
            </a:r>
            <a:r>
              <a:rPr sz="4000" dirty="0" smtClean="0"/>
              <a:t>.А</a:t>
            </a:r>
            <a:r>
              <a:rPr sz="4000" dirty="0"/>
              <a:t>.</a:t>
            </a:r>
          </a:p>
          <a:p>
            <a:pPr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 dirty="0"/>
              <a:t>ИУ5-41М</a:t>
            </a:r>
          </a:p>
          <a:p>
            <a:pPr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 dirty="0" err="1"/>
              <a:t>Системы</a:t>
            </a:r>
            <a:r>
              <a:rPr sz="4000" dirty="0"/>
              <a:t> </a:t>
            </a:r>
            <a:r>
              <a:rPr sz="4000" dirty="0" err="1"/>
              <a:t>обработки</a:t>
            </a:r>
            <a:r>
              <a:rPr sz="4000" dirty="0"/>
              <a:t> </a:t>
            </a:r>
            <a:r>
              <a:rPr sz="4000" dirty="0" err="1"/>
              <a:t>информации</a:t>
            </a:r>
            <a:r>
              <a:rPr sz="4000" dirty="0"/>
              <a:t> </a:t>
            </a:r>
            <a:r>
              <a:rPr sz="4000" dirty="0" err="1"/>
              <a:t>и</a:t>
            </a:r>
            <a:r>
              <a:rPr sz="4000" dirty="0"/>
              <a:t> </a:t>
            </a:r>
            <a:r>
              <a:rPr sz="4000" dirty="0" err="1"/>
              <a:t>управления</a:t>
            </a:r>
            <a:endParaRPr sz="4000" dirty="0"/>
          </a:p>
          <a:p>
            <a:pPr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 dirty="0" err="1"/>
              <a:t>Информатика</a:t>
            </a:r>
            <a:r>
              <a:rPr sz="4000" dirty="0"/>
              <a:t>, </a:t>
            </a:r>
            <a:r>
              <a:rPr sz="4000" dirty="0" err="1"/>
              <a:t>искусственный</a:t>
            </a:r>
            <a:r>
              <a:rPr sz="4000" dirty="0"/>
              <a:t> </a:t>
            </a:r>
            <a:r>
              <a:rPr sz="4000" dirty="0" err="1"/>
              <a:t>интеллект</a:t>
            </a:r>
            <a:r>
              <a:rPr sz="4000" dirty="0"/>
              <a:t> </a:t>
            </a:r>
            <a:r>
              <a:rPr sz="4000" dirty="0" err="1"/>
              <a:t>и</a:t>
            </a:r>
            <a:r>
              <a:rPr sz="4000" dirty="0"/>
              <a:t> </a:t>
            </a:r>
            <a:r>
              <a:rPr sz="4000" dirty="0" err="1"/>
              <a:t>системы</a:t>
            </a:r>
            <a:r>
              <a:rPr sz="4000" dirty="0"/>
              <a:t> </a:t>
            </a:r>
            <a:r>
              <a:rPr sz="4000" dirty="0" err="1"/>
              <a:t>управления</a:t>
            </a:r>
            <a:r>
              <a:rPr sz="4000" dirty="0"/>
              <a:t/>
            </a:r>
            <a:br>
              <a:rPr sz="4000" dirty="0"/>
            </a:br>
            <a:endParaRPr sz="4000" dirty="0"/>
          </a:p>
          <a:p>
            <a:pPr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4000" dirty="0"/>
          </a:p>
          <a:p>
            <a:pPr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4000" dirty="0" err="1" smtClean="0"/>
              <a:t>Гапанюк</a:t>
            </a:r>
            <a:r>
              <a:rPr sz="4000" dirty="0" smtClean="0"/>
              <a:t> </a:t>
            </a:r>
            <a:r>
              <a:rPr lang="ru-RU" sz="4000" dirty="0" smtClean="0"/>
              <a:t>Ю</a:t>
            </a:r>
            <a:r>
              <a:rPr sz="4000" dirty="0" smtClean="0"/>
              <a:t>.</a:t>
            </a:r>
            <a:r>
              <a:rPr lang="ru-RU" sz="4000" dirty="0" smtClean="0"/>
              <a:t>Е</a:t>
            </a:r>
            <a:r>
              <a:rPr sz="4000" dirty="0" smtClean="0"/>
              <a:t>., </a:t>
            </a:r>
            <a:r>
              <a:rPr sz="4000" dirty="0" err="1"/>
              <a:t>к.т.н</a:t>
            </a:r>
            <a:r>
              <a:rPr sz="4000" dirty="0"/>
              <a:t>., </a:t>
            </a:r>
            <a:r>
              <a:rPr sz="4000" dirty="0" err="1"/>
              <a:t>доцент</a:t>
            </a:r>
            <a:endParaRPr sz="4000" dirty="0"/>
          </a:p>
        </p:txBody>
      </p:sp>
      <p:sp>
        <p:nvSpPr>
          <p:cNvPr id="155" name="Москва, МГТУ им Н.Э. Баумана"/>
          <p:cNvSpPr txBox="1"/>
          <p:nvPr/>
        </p:nvSpPr>
        <p:spPr>
          <a:xfrm>
            <a:off x="8176722" y="11839048"/>
            <a:ext cx="803055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lnSpcReduction="10000"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Москва, МГТУ им Н.Э. Баумана</a:t>
            </a:r>
          </a:p>
        </p:txBody>
      </p:sp>
      <p:sp>
        <p:nvSpPr>
          <p:cNvPr id="156" name="Выполнил:…"/>
          <p:cNvSpPr txBox="1"/>
          <p:nvPr/>
        </p:nvSpPr>
        <p:spPr>
          <a:xfrm>
            <a:off x="1206498" y="5883309"/>
            <a:ext cx="6073369" cy="513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lvl="4"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4000" smtClean="0"/>
              <a:t>Исполнитель</a:t>
            </a:r>
            <a:r>
              <a:rPr sz="4000" smtClean="0"/>
              <a:t>:</a:t>
            </a:r>
            <a:endParaRPr sz="4000" dirty="0"/>
          </a:p>
          <a:p>
            <a:pPr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 dirty="0" err="1"/>
              <a:t>Группа</a:t>
            </a:r>
            <a:r>
              <a:rPr sz="4000" dirty="0"/>
              <a:t>:</a:t>
            </a:r>
          </a:p>
          <a:p>
            <a:pPr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 dirty="0" err="1"/>
              <a:t>Кафедра</a:t>
            </a:r>
            <a:r>
              <a:rPr sz="4000" dirty="0"/>
              <a:t>:</a:t>
            </a:r>
          </a:p>
          <a:p>
            <a:pPr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 dirty="0" err="1"/>
              <a:t>Факультет</a:t>
            </a:r>
            <a:r>
              <a:rPr sz="4000" dirty="0"/>
              <a:t>:</a:t>
            </a:r>
          </a:p>
          <a:p>
            <a:pPr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4000" dirty="0"/>
          </a:p>
          <a:p>
            <a:pPr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ru-RU" sz="4000" dirty="0"/>
          </a:p>
          <a:p>
            <a:pPr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4000" dirty="0"/>
              <a:t>Научный руководитель:</a:t>
            </a:r>
          </a:p>
          <a:p>
            <a:pPr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Анализ аналогов и прототипов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ru-RU" dirty="0" smtClean="0"/>
              <a:t>Преобразование метаграфа в </a:t>
            </a:r>
            <a:r>
              <a:rPr lang="ru-RU" dirty="0" err="1" smtClean="0"/>
              <a:t>многодольный</a:t>
            </a:r>
            <a:r>
              <a:rPr lang="ru-RU" dirty="0" smtClean="0"/>
              <a:t> граф</a:t>
            </a:r>
            <a:endParaRPr dirty="0"/>
          </a:p>
        </p:txBody>
      </p:sp>
      <p:pic>
        <p:nvPicPr>
          <p:cNvPr id="5" name="Рисунок 4" descr="C:\Users\Artem\Downloads\FlattedMG_Simple-full doli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5736" y="2512663"/>
            <a:ext cx="13071764" cy="10373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3"/>
          <a:srcRect l="29015" t="30404" r="20303" b="14849"/>
          <a:stretch/>
        </p:blipFill>
        <p:spPr>
          <a:xfrm>
            <a:off x="1206500" y="2512663"/>
            <a:ext cx="9641609" cy="5858465"/>
          </a:xfrm>
          <a:prstGeom prst="rect">
            <a:avLst/>
          </a:prstGeom>
        </p:spPr>
      </p:pic>
      <p:sp>
        <p:nvSpPr>
          <p:cNvPr id="6" name="Удельная стоимость для виртуальных машин:"/>
          <p:cNvSpPr txBox="1"/>
          <p:nvPr/>
        </p:nvSpPr>
        <p:spPr>
          <a:xfrm>
            <a:off x="1206500" y="9027491"/>
            <a:ext cx="9383797" cy="209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 smtClean="0"/>
              <a:t>Введение класса узлов «Фрагмент» увеличивает размер плоского графа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98584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Анализ аналогов и прототипов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14088918" cy="270279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 smtClean="0"/>
              <a:t>Преобразование метаграфа в плоский граф</a:t>
            </a:r>
            <a:endParaRPr dirty="0"/>
          </a:p>
        </p:txBody>
      </p:sp>
      <p:pic>
        <p:nvPicPr>
          <p:cNvPr id="6" name="Рисунок 5" descr="D:\Artem\Documents\mag_BMSTU\Diploma\FlattedMG_Simple-3 doli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4218710"/>
            <a:ext cx="15244121" cy="853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 descr="D:\Artem\Documents\mag_BMSTU\Diploma\MetaGtoG-Both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3436" y="1079500"/>
            <a:ext cx="6296891" cy="121187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504760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06499" y="3945827"/>
            <a:ext cx="21893837" cy="7930606"/>
          </a:xfrm>
          <a:prstGeom prst="rect">
            <a:avLst/>
          </a:prstGeom>
        </p:spPr>
      </p:pic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HOPE</a:t>
            </a:r>
            <a:r>
              <a:rPr lang="ru-RU" dirty="0" smtClean="0"/>
              <a:t>. Эксперимент</a:t>
            </a:r>
            <a:endParaRPr dirty="0"/>
          </a:p>
        </p:txBody>
      </p:sp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1941735" y="2512663"/>
            <a:ext cx="11235765" cy="82560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 smtClean="0"/>
              <a:t>Сохранение близости похожих узлов метаграфа</a:t>
            </a:r>
          </a:p>
          <a:p>
            <a:r>
              <a:rPr lang="ru-RU" dirty="0"/>
              <a:t>Отсутствие элементов с одинаковыми </a:t>
            </a:r>
            <a:r>
              <a:rPr lang="ru-RU" dirty="0" smtClean="0"/>
              <a:t>координатами</a:t>
            </a:r>
          </a:p>
          <a:p>
            <a:r>
              <a:rPr lang="ru-RU" dirty="0" smtClean="0"/>
              <a:t>Микроскопическая разница между множеством узлов</a:t>
            </a:r>
          </a:p>
          <a:p>
            <a:r>
              <a:rPr lang="ru-RU" dirty="0" smtClean="0"/>
              <a:t>Несбалансированные значения координат узлов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027221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HOPE</a:t>
            </a:r>
            <a:r>
              <a:rPr lang="ru-RU" dirty="0" smtClean="0"/>
              <a:t>. Эксперимент</a:t>
            </a:r>
            <a:endParaRPr dirty="0"/>
          </a:p>
        </p:txBody>
      </p:sp>
      <p:pic>
        <p:nvPicPr>
          <p:cNvPr id="5" name="Рисунок 4" descr="D:\Artem\Documents\mag_BMSTU\Diploma\графики\hope edges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5253758"/>
            <a:ext cx="21976027" cy="778013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206499" y="2512663"/>
            <a:ext cx="15398173" cy="224637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 smtClean="0"/>
              <a:t>Сохранение близости похожих узлов метаграфа</a:t>
            </a:r>
          </a:p>
          <a:p>
            <a:r>
              <a:rPr lang="ru-RU" dirty="0" smtClean="0"/>
              <a:t>Микроскопическая разница между множеством узлов</a:t>
            </a:r>
          </a:p>
        </p:txBody>
      </p:sp>
      <p:pic>
        <p:nvPicPr>
          <p:cNvPr id="6" name="Рисунок 5" descr="D:\Artem\Documents\mag_BMSTU\Diploma\графики\hope-ex1.png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3" t="34473"/>
          <a:stretch/>
        </p:blipFill>
        <p:spPr bwMode="auto">
          <a:xfrm>
            <a:off x="16230600" y="1079500"/>
            <a:ext cx="6946900" cy="620753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15310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Laplacian </a:t>
            </a:r>
            <a:r>
              <a:rPr lang="en-US" dirty="0" err="1" smtClean="0"/>
              <a:t>Eigenmaps</a:t>
            </a:r>
            <a:r>
              <a:rPr lang="ru-RU" dirty="0" smtClean="0"/>
              <a:t>. Эксперимент</a:t>
            </a:r>
            <a:endParaRPr dirty="0"/>
          </a:p>
        </p:txBody>
      </p:sp>
      <p:pic>
        <p:nvPicPr>
          <p:cNvPr id="4" name="Рисунок 3" descr="D:\Artem\Documents\mag_BMSTU\Diploma\графики\LE3d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2512663"/>
            <a:ext cx="11966276" cy="951387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4006945" y="3770522"/>
            <a:ext cx="9170555" cy="8256012"/>
          </a:xfrm>
          <a:prstGeom prst="rect">
            <a:avLst/>
          </a:prstGeom>
        </p:spPr>
        <p:txBody>
          <a:bodyPr/>
          <a:lstStyle/>
          <a:p>
            <a:r>
              <a:rPr lang="ru-RU" dirty="0" smtClean="0"/>
              <a:t>Сохранение близости первого-второго порядков</a:t>
            </a:r>
            <a:endParaRPr lang="en-US" dirty="0" smtClean="0"/>
          </a:p>
          <a:p>
            <a:r>
              <a:rPr lang="ru-RU" dirty="0" smtClean="0"/>
              <a:t>Скопление большинства узлов на одной «плоскости»</a:t>
            </a:r>
          </a:p>
          <a:p>
            <a:r>
              <a:rPr lang="ru-RU" dirty="0" smtClean="0"/>
              <a:t>Кучность данных</a:t>
            </a:r>
          </a:p>
          <a:p>
            <a:r>
              <a:rPr lang="ru-RU" dirty="0" smtClean="0"/>
              <a:t>Одинаковые координаты узлов разных классов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80695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Laplacian </a:t>
            </a:r>
            <a:r>
              <a:rPr lang="en-US" dirty="0" err="1" smtClean="0"/>
              <a:t>Eigenmaps</a:t>
            </a:r>
            <a:r>
              <a:rPr lang="ru-RU" dirty="0" smtClean="0"/>
              <a:t>. Эксперимент</a:t>
            </a:r>
            <a:endParaRPr dirty="0"/>
          </a:p>
        </p:txBody>
      </p:sp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4006945" y="6177168"/>
            <a:ext cx="9170555" cy="2888673"/>
          </a:xfrm>
          <a:prstGeom prst="rect">
            <a:avLst/>
          </a:prstGeom>
        </p:spPr>
        <p:txBody>
          <a:bodyPr/>
          <a:lstStyle/>
          <a:p>
            <a:r>
              <a:rPr lang="ru-RU" dirty="0" smtClean="0"/>
              <a:t>Скопление большинства узлов на одной «плоскости»</a:t>
            </a:r>
          </a:p>
          <a:p>
            <a:r>
              <a:rPr lang="ru-RU" dirty="0" smtClean="0"/>
              <a:t>Кучность данных</a:t>
            </a:r>
          </a:p>
        </p:txBody>
      </p:sp>
      <p:pic>
        <p:nvPicPr>
          <p:cNvPr id="5" name="Рисунок 4" descr="D:\Artem\Documents\mag_BMSTU\Diploma\графики\LE3dn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518" y="2512662"/>
            <a:ext cx="10701482" cy="102176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70189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Laplacian </a:t>
            </a:r>
            <a:r>
              <a:rPr lang="en-US" dirty="0" err="1" smtClean="0"/>
              <a:t>Eigenmaps</a:t>
            </a:r>
            <a:r>
              <a:rPr lang="ru-RU" dirty="0" smtClean="0"/>
              <a:t>. Эксперимент</a:t>
            </a:r>
            <a:endParaRPr dirty="0"/>
          </a:p>
        </p:txBody>
      </p:sp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3695218" y="8892680"/>
            <a:ext cx="9170555" cy="2888673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ru-RU" dirty="0"/>
              <a:t>Сохранение близости первого-второго порядков</a:t>
            </a:r>
            <a:endParaRPr lang="en-US" dirty="0"/>
          </a:p>
          <a:p>
            <a:r>
              <a:rPr lang="ru-RU" dirty="0" smtClean="0"/>
              <a:t>Одинаковые координаты </a:t>
            </a:r>
            <a:r>
              <a:rPr lang="ru-RU" dirty="0"/>
              <a:t>узлов разных классов</a:t>
            </a:r>
            <a:endParaRPr lang="en-US" dirty="0"/>
          </a:p>
        </p:txBody>
      </p:sp>
      <p:pic>
        <p:nvPicPr>
          <p:cNvPr id="6" name="Рисунок 5" descr="D:\Artem\Documents\mag_BMSTU\Diploma\графики\LE3mv8mv9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2512662"/>
            <a:ext cx="9787082" cy="1047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 descr="D:\Artem\Documents\mag_BMSTU\Diploma\Big metagraph-Page-4.png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51" r="7476"/>
          <a:stretch/>
        </p:blipFill>
        <p:spPr bwMode="auto">
          <a:xfrm>
            <a:off x="13695218" y="2512662"/>
            <a:ext cx="9170555" cy="553312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540386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Laplacian </a:t>
            </a:r>
            <a:r>
              <a:rPr lang="en-US" dirty="0" err="1" smtClean="0"/>
              <a:t>Eigenmaps</a:t>
            </a:r>
            <a:r>
              <a:rPr lang="ru-RU" dirty="0" smtClean="0"/>
              <a:t>. Эксперимент</a:t>
            </a:r>
            <a:endParaRPr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06499" y="2621238"/>
            <a:ext cx="21892973" cy="6989295"/>
          </a:xfrm>
          <a:prstGeom prst="rect">
            <a:avLst/>
          </a:prstGeom>
        </p:spPr>
      </p:pic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4422148" y="9719108"/>
            <a:ext cx="15461673" cy="2581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/>
              <a:t>Скопление большинства узлов на одной «плоскости»</a:t>
            </a:r>
          </a:p>
          <a:p>
            <a:r>
              <a:rPr lang="ru-RU" dirty="0" smtClean="0"/>
              <a:t>Одинаковые координаты </a:t>
            </a:r>
            <a:r>
              <a:rPr lang="ru-RU" dirty="0"/>
              <a:t>узлов разных классов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54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Node2Vec</a:t>
            </a:r>
            <a:r>
              <a:rPr lang="ru-RU" dirty="0" smtClean="0"/>
              <a:t>. Эксперимент</a:t>
            </a:r>
            <a:endParaRPr dirty="0"/>
          </a:p>
        </p:txBody>
      </p:sp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3965382" y="3886130"/>
            <a:ext cx="9212118" cy="7264215"/>
          </a:xfrm>
          <a:prstGeom prst="rect">
            <a:avLst/>
          </a:prstGeom>
        </p:spPr>
        <p:txBody>
          <a:bodyPr/>
          <a:lstStyle/>
          <a:p>
            <a:r>
              <a:rPr lang="ru-RU" dirty="0" smtClean="0"/>
              <a:t>Сохранение структуры метаграфа</a:t>
            </a:r>
          </a:p>
          <a:p>
            <a:r>
              <a:rPr lang="ru-RU" dirty="0" smtClean="0"/>
              <a:t>Равномерное распределение элементов по пространству</a:t>
            </a:r>
          </a:p>
          <a:p>
            <a:r>
              <a:rPr lang="ru-RU" dirty="0" smtClean="0"/>
              <a:t>Отсутствие элементов с одинаковыми координатами</a:t>
            </a:r>
          </a:p>
          <a:p>
            <a:r>
              <a:rPr lang="ru-RU" dirty="0" smtClean="0"/>
              <a:t>Небольшая величина координат элементов</a:t>
            </a:r>
            <a:endParaRPr lang="en-US" dirty="0" smtClean="0"/>
          </a:p>
        </p:txBody>
      </p:sp>
      <p:pic>
        <p:nvPicPr>
          <p:cNvPr id="4" name="Рисунок 3" descr="D:\Artem\Documents\mag_BMSTU\Diploma\графики\n2v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2512663"/>
            <a:ext cx="11927608" cy="100111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260655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Node2Vec</a:t>
            </a:r>
            <a:r>
              <a:rPr lang="ru-RU" dirty="0" smtClean="0"/>
              <a:t>. Эксперимент</a:t>
            </a:r>
            <a:endParaRPr dirty="0"/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2641600" y="3238500"/>
            <a:ext cx="8062191" cy="929986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5392" y="1079546"/>
            <a:ext cx="9348354" cy="11458817"/>
          </a:xfrm>
          <a:prstGeom prst="rect">
            <a:avLst/>
          </a:prstGeom>
        </p:spPr>
      </p:pic>
      <p:pic>
        <p:nvPicPr>
          <p:cNvPr id="2050" name="Рисунок 5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067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Рисунок 5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6416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3181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Node2Vec</a:t>
            </a:r>
            <a:r>
              <a:rPr lang="ru-RU" dirty="0" smtClean="0"/>
              <a:t>. Эксперимент</a:t>
            </a: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513" y="2512663"/>
            <a:ext cx="7334827" cy="685358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0543" y="2512662"/>
            <a:ext cx="8324431" cy="719244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017" y="9705108"/>
            <a:ext cx="3959818" cy="303414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0013" y="9705107"/>
            <a:ext cx="4885490" cy="303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142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198</Words>
  <Application>Microsoft Office PowerPoint</Application>
  <PresentationFormat>Произвольный</PresentationFormat>
  <Paragraphs>48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Helvetica Neue</vt:lpstr>
      <vt:lpstr>Helvetica Neue Medium</vt:lpstr>
      <vt:lpstr>Times New Roman</vt:lpstr>
      <vt:lpstr>21_BasicWhite</vt:lpstr>
      <vt:lpstr>Исследование векторного представления метаграфов</vt:lpstr>
      <vt:lpstr>Преобразование метаграфа в многодольный граф</vt:lpstr>
      <vt:lpstr>Преобразование метаграфа в плоский граф</vt:lpstr>
      <vt:lpstr>HOPE. Эксперимент</vt:lpstr>
      <vt:lpstr>HOPE. Эксперимент</vt:lpstr>
      <vt:lpstr>Laplacian Eigenmaps. Эксперимент</vt:lpstr>
      <vt:lpstr>Laplacian Eigenmaps. Эксперимент</vt:lpstr>
      <vt:lpstr>Laplacian Eigenmaps. Эксперимент</vt:lpstr>
      <vt:lpstr>Laplacian Eigenmaps. Эксперимент</vt:lpstr>
      <vt:lpstr>Node2Vec. Эксперимент</vt:lpstr>
      <vt:lpstr>Node2Vec. Эксперимент</vt:lpstr>
      <vt:lpstr>Node2Vec. Эксперимент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автоматизации разработки и обеспечения доступности проектов</dc:title>
  <dc:creator>Артем Фадеев</dc:creator>
  <cp:lastModifiedBy>Артем Фадеев</cp:lastModifiedBy>
  <cp:revision>63</cp:revision>
  <dcterms:modified xsi:type="dcterms:W3CDTF">2022-06-22T20:47:34Z</dcterms:modified>
</cp:coreProperties>
</file>